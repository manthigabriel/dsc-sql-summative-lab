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6" r:id="rId4"/>
    <p:sldId id="268" r:id="rId5"/>
    <p:sldId id="269" r:id="rId6"/>
    <p:sldId id="267" r:id="rId7"/>
    <p:sldId id="270" r:id="rId8"/>
    <p:sldId id="272" r:id="rId9"/>
    <p:sldId id="265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75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8059" y="3222999"/>
            <a:ext cx="704215" cy="704215"/>
          </a:xfrm>
          <a:custGeom>
            <a:avLst/>
            <a:gdLst/>
            <a:ahLst/>
            <a:cxnLst/>
            <a:rect l="l" t="t" r="r" b="b"/>
            <a:pathLst>
              <a:path w="704214" h="704214">
                <a:moveTo>
                  <a:pt x="226364" y="0"/>
                </a:moveTo>
                <a:lnTo>
                  <a:pt x="182146" y="4361"/>
                </a:lnTo>
                <a:lnTo>
                  <a:pt x="139604" y="17260"/>
                </a:lnTo>
                <a:lnTo>
                  <a:pt x="100402" y="38214"/>
                </a:lnTo>
                <a:lnTo>
                  <a:pt x="66230" y="66230"/>
                </a:lnTo>
                <a:lnTo>
                  <a:pt x="38214" y="100402"/>
                </a:lnTo>
                <a:lnTo>
                  <a:pt x="17260" y="139604"/>
                </a:lnTo>
                <a:lnTo>
                  <a:pt x="4361" y="182146"/>
                </a:lnTo>
                <a:lnTo>
                  <a:pt x="0" y="226364"/>
                </a:lnTo>
                <a:lnTo>
                  <a:pt x="486" y="241201"/>
                </a:lnTo>
                <a:lnTo>
                  <a:pt x="7734" y="285051"/>
                </a:lnTo>
                <a:lnTo>
                  <a:pt x="23380" y="326635"/>
                </a:lnTo>
                <a:lnTo>
                  <a:pt x="46855" y="364383"/>
                </a:lnTo>
                <a:lnTo>
                  <a:pt x="383438" y="703707"/>
                </a:lnTo>
                <a:lnTo>
                  <a:pt x="703707" y="383438"/>
                </a:lnTo>
                <a:lnTo>
                  <a:pt x="386689" y="66408"/>
                </a:lnTo>
                <a:lnTo>
                  <a:pt x="352329" y="38217"/>
                </a:lnTo>
                <a:lnTo>
                  <a:pt x="313131" y="17260"/>
                </a:lnTo>
                <a:lnTo>
                  <a:pt x="270593" y="4361"/>
                </a:lnTo>
                <a:lnTo>
                  <a:pt x="226364" y="0"/>
                </a:lnTo>
                <a:close/>
              </a:path>
            </a:pathLst>
          </a:custGeom>
          <a:solidFill>
            <a:srgbClr val="F262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31486" y="3223002"/>
            <a:ext cx="704215" cy="704215"/>
          </a:xfrm>
          <a:custGeom>
            <a:avLst/>
            <a:gdLst/>
            <a:ahLst/>
            <a:cxnLst/>
            <a:rect l="l" t="t" r="r" b="b"/>
            <a:pathLst>
              <a:path w="704214" h="704214">
                <a:moveTo>
                  <a:pt x="477342" y="0"/>
                </a:moveTo>
                <a:lnTo>
                  <a:pt x="433113" y="4361"/>
                </a:lnTo>
                <a:lnTo>
                  <a:pt x="390575" y="17260"/>
                </a:lnTo>
                <a:lnTo>
                  <a:pt x="351377" y="38217"/>
                </a:lnTo>
                <a:lnTo>
                  <a:pt x="317017" y="66408"/>
                </a:lnTo>
                <a:lnTo>
                  <a:pt x="0" y="383438"/>
                </a:lnTo>
                <a:lnTo>
                  <a:pt x="320268" y="703707"/>
                </a:lnTo>
                <a:lnTo>
                  <a:pt x="637298" y="386689"/>
                </a:lnTo>
                <a:lnTo>
                  <a:pt x="665489" y="352329"/>
                </a:lnTo>
                <a:lnTo>
                  <a:pt x="686446" y="313131"/>
                </a:lnTo>
                <a:lnTo>
                  <a:pt x="699345" y="270593"/>
                </a:lnTo>
                <a:lnTo>
                  <a:pt x="703707" y="226364"/>
                </a:lnTo>
                <a:lnTo>
                  <a:pt x="703220" y="211530"/>
                </a:lnTo>
                <a:lnTo>
                  <a:pt x="695972" y="167690"/>
                </a:lnTo>
                <a:lnTo>
                  <a:pt x="680326" y="126096"/>
                </a:lnTo>
                <a:lnTo>
                  <a:pt x="656874" y="88369"/>
                </a:lnTo>
                <a:lnTo>
                  <a:pt x="626746" y="56186"/>
                </a:lnTo>
                <a:lnTo>
                  <a:pt x="590702" y="30378"/>
                </a:lnTo>
                <a:lnTo>
                  <a:pt x="550222" y="12038"/>
                </a:lnTo>
                <a:lnTo>
                  <a:pt x="506931" y="1943"/>
                </a:lnTo>
                <a:lnTo>
                  <a:pt x="477342" y="0"/>
                </a:lnTo>
                <a:close/>
              </a:path>
            </a:pathLst>
          </a:custGeom>
          <a:solidFill>
            <a:srgbClr val="F1610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48054" y="3416731"/>
            <a:ext cx="1087755" cy="893444"/>
          </a:xfrm>
          <a:custGeom>
            <a:avLst/>
            <a:gdLst/>
            <a:ahLst/>
            <a:cxnLst/>
            <a:rect l="l" t="t" r="r" b="b"/>
            <a:pathLst>
              <a:path w="1087755" h="893445">
                <a:moveTo>
                  <a:pt x="1087132" y="667042"/>
                </a:moveTo>
                <a:lnTo>
                  <a:pt x="1082763" y="622820"/>
                </a:lnTo>
                <a:lnTo>
                  <a:pt x="1069873" y="580275"/>
                </a:lnTo>
                <a:lnTo>
                  <a:pt x="1048918" y="541083"/>
                </a:lnTo>
                <a:lnTo>
                  <a:pt x="1020724" y="506717"/>
                </a:lnTo>
                <a:lnTo>
                  <a:pt x="863828" y="349846"/>
                </a:lnTo>
                <a:lnTo>
                  <a:pt x="543572" y="29565"/>
                </a:lnTo>
                <a:lnTo>
                  <a:pt x="513994" y="0"/>
                </a:lnTo>
                <a:lnTo>
                  <a:pt x="193725" y="320268"/>
                </a:lnTo>
                <a:lnTo>
                  <a:pt x="223291" y="349846"/>
                </a:lnTo>
                <a:lnTo>
                  <a:pt x="66408" y="506717"/>
                </a:lnTo>
                <a:lnTo>
                  <a:pt x="38214" y="541083"/>
                </a:lnTo>
                <a:lnTo>
                  <a:pt x="17259" y="580275"/>
                </a:lnTo>
                <a:lnTo>
                  <a:pt x="4356" y="622820"/>
                </a:lnTo>
                <a:lnTo>
                  <a:pt x="0" y="667042"/>
                </a:lnTo>
                <a:lnTo>
                  <a:pt x="482" y="681875"/>
                </a:lnTo>
                <a:lnTo>
                  <a:pt x="7734" y="725716"/>
                </a:lnTo>
                <a:lnTo>
                  <a:pt x="23380" y="767308"/>
                </a:lnTo>
                <a:lnTo>
                  <a:pt x="46824" y="805040"/>
                </a:lnTo>
                <a:lnTo>
                  <a:pt x="76962" y="837222"/>
                </a:lnTo>
                <a:lnTo>
                  <a:pt x="113004" y="863028"/>
                </a:lnTo>
                <a:lnTo>
                  <a:pt x="153479" y="881367"/>
                </a:lnTo>
                <a:lnTo>
                  <a:pt x="196773" y="891463"/>
                </a:lnTo>
                <a:lnTo>
                  <a:pt x="226364" y="893406"/>
                </a:lnTo>
                <a:lnTo>
                  <a:pt x="241198" y="892924"/>
                </a:lnTo>
                <a:lnTo>
                  <a:pt x="285051" y="885672"/>
                </a:lnTo>
                <a:lnTo>
                  <a:pt x="326631" y="870026"/>
                </a:lnTo>
                <a:lnTo>
                  <a:pt x="364375" y="846556"/>
                </a:lnTo>
                <a:lnTo>
                  <a:pt x="543560" y="670128"/>
                </a:lnTo>
                <a:lnTo>
                  <a:pt x="700443" y="826998"/>
                </a:lnTo>
                <a:lnTo>
                  <a:pt x="734796" y="855192"/>
                </a:lnTo>
                <a:lnTo>
                  <a:pt x="774001" y="876147"/>
                </a:lnTo>
                <a:lnTo>
                  <a:pt x="816533" y="889050"/>
                </a:lnTo>
                <a:lnTo>
                  <a:pt x="860767" y="893406"/>
                </a:lnTo>
                <a:lnTo>
                  <a:pt x="875601" y="892924"/>
                </a:lnTo>
                <a:lnTo>
                  <a:pt x="919441" y="885672"/>
                </a:lnTo>
                <a:lnTo>
                  <a:pt x="961034" y="870026"/>
                </a:lnTo>
                <a:lnTo>
                  <a:pt x="998766" y="846582"/>
                </a:lnTo>
                <a:lnTo>
                  <a:pt x="1030947" y="816444"/>
                </a:lnTo>
                <a:lnTo>
                  <a:pt x="1056754" y="780402"/>
                </a:lnTo>
                <a:lnTo>
                  <a:pt x="1075093" y="739927"/>
                </a:lnTo>
                <a:lnTo>
                  <a:pt x="1085189" y="696633"/>
                </a:lnTo>
                <a:lnTo>
                  <a:pt x="1086637" y="681875"/>
                </a:lnTo>
                <a:lnTo>
                  <a:pt x="1087132" y="667042"/>
                </a:lnTo>
                <a:close/>
              </a:path>
            </a:pathLst>
          </a:custGeom>
          <a:solidFill>
            <a:srgbClr val="F262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60589" y="2923483"/>
            <a:ext cx="11413490" cy="2887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00" b="0" i="0">
                <a:solidFill>
                  <a:srgbClr val="262626"/>
                </a:solidFill>
                <a:latin typeface="Aileron SemiBold"/>
                <a:cs typeface="Aileron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0">
                <a:solidFill>
                  <a:srgbClr val="262626"/>
                </a:solidFill>
                <a:latin typeface="Aileron SemiBold"/>
                <a:cs typeface="Aileron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0">
                <a:solidFill>
                  <a:srgbClr val="262626"/>
                </a:solidFill>
                <a:latin typeface="Aileron SemiBold"/>
                <a:cs typeface="Aileron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262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0">
                <a:solidFill>
                  <a:srgbClr val="262626"/>
                </a:solidFill>
                <a:latin typeface="Aileron SemiBold"/>
                <a:cs typeface="Aileron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9300" y="927547"/>
            <a:ext cx="14818994" cy="23083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00" b="0" i="0">
                <a:solidFill>
                  <a:srgbClr val="262626"/>
                </a:solidFill>
                <a:latin typeface="Aileron SemiBold"/>
                <a:cs typeface="Aileron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1453" y="9621815"/>
            <a:ext cx="16935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62626"/>
                </a:solidFill>
                <a:latin typeface="Aileron"/>
                <a:cs typeface="Aileron"/>
              </a:rPr>
              <a:t>Manthi</a:t>
            </a:r>
            <a:r>
              <a:rPr sz="2000" spc="-65" dirty="0">
                <a:solidFill>
                  <a:srgbClr val="262626"/>
                </a:solidFill>
                <a:latin typeface="Aileron"/>
                <a:cs typeface="Aileron"/>
              </a:rPr>
              <a:t> </a:t>
            </a:r>
            <a:r>
              <a:rPr sz="2000" spc="-10" dirty="0">
                <a:solidFill>
                  <a:srgbClr val="262626"/>
                </a:solidFill>
                <a:latin typeface="Aileron"/>
                <a:cs typeface="Aileron"/>
              </a:rPr>
              <a:t>Gabriel</a:t>
            </a:r>
            <a:endParaRPr sz="2000">
              <a:latin typeface="Aileron"/>
              <a:cs typeface="Ailero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105761" y="9624101"/>
            <a:ext cx="1210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62626"/>
                </a:solidFill>
                <a:latin typeface="Aileron"/>
                <a:cs typeface="Aileron"/>
              </a:rPr>
              <a:t>7/15/2026</a:t>
            </a:r>
            <a:endParaRPr sz="2000">
              <a:latin typeface="Aileron"/>
              <a:cs typeface="Ailero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 marR="5080">
              <a:lnSpc>
                <a:spcPts val="10780"/>
              </a:lnSpc>
              <a:spcBef>
                <a:spcPts val="1180"/>
              </a:spcBef>
            </a:pPr>
            <a:r>
              <a:rPr sz="9800" b="1" dirty="0">
                <a:latin typeface="Aileron Bold"/>
                <a:cs typeface="Aileron Bold"/>
              </a:rPr>
              <a:t>SQL</a:t>
            </a:r>
            <a:r>
              <a:rPr sz="9800" b="1" spc="-305" dirty="0">
                <a:latin typeface="Aileron Bold"/>
                <a:cs typeface="Aileron Bold"/>
              </a:rPr>
              <a:t> </a:t>
            </a:r>
            <a:r>
              <a:rPr sz="9800" b="1" dirty="0">
                <a:latin typeface="Aileron Bold"/>
                <a:cs typeface="Aileron Bold"/>
              </a:rPr>
              <a:t>Analysis:</a:t>
            </a:r>
            <a:r>
              <a:rPr sz="9800" b="1" spc="-305" dirty="0">
                <a:latin typeface="Aileron Bold"/>
                <a:cs typeface="Aileron Bold"/>
              </a:rPr>
              <a:t> </a:t>
            </a:r>
            <a:r>
              <a:rPr sz="9800" b="1" spc="-20" dirty="0">
                <a:latin typeface="Aileron Bold"/>
                <a:cs typeface="Aileron Bold"/>
              </a:rPr>
              <a:t>IMDB </a:t>
            </a:r>
            <a:r>
              <a:rPr sz="9800" b="1" spc="-10" dirty="0">
                <a:latin typeface="Aileron Bold"/>
                <a:cs typeface="Aileron Bold"/>
              </a:rPr>
              <a:t>Movies</a:t>
            </a:r>
            <a:endParaRPr sz="9800">
              <a:latin typeface="Aileron Bold"/>
              <a:cs typeface="Aileron Bold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60592" y="6241945"/>
            <a:ext cx="1300480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i="1" spc="65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Uncovering</a:t>
            </a:r>
            <a:r>
              <a:rPr sz="3200" i="1" spc="225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 </a:t>
            </a:r>
            <a:r>
              <a:rPr sz="3200" i="1" spc="75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correlations</a:t>
            </a:r>
            <a:r>
              <a:rPr sz="3200" i="1" spc="229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 </a:t>
            </a:r>
            <a:r>
              <a:rPr sz="3200" i="1" spc="60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between</a:t>
            </a:r>
            <a:r>
              <a:rPr sz="3200" i="1" spc="229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 </a:t>
            </a:r>
            <a:r>
              <a:rPr sz="3200" i="1" spc="55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movie</a:t>
            </a:r>
            <a:r>
              <a:rPr sz="3200" i="1" spc="225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 </a:t>
            </a:r>
            <a:r>
              <a:rPr sz="3200" i="1" spc="65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runtime</a:t>
            </a:r>
            <a:r>
              <a:rPr sz="3200" i="1" spc="229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 </a:t>
            </a:r>
            <a:r>
              <a:rPr sz="3200" i="1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and</a:t>
            </a:r>
            <a:r>
              <a:rPr sz="3200" i="1" spc="229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 </a:t>
            </a:r>
            <a:r>
              <a:rPr sz="3200" i="1" spc="65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audience</a:t>
            </a:r>
            <a:r>
              <a:rPr sz="3200" i="1" spc="225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 </a:t>
            </a:r>
            <a:r>
              <a:rPr sz="3200" i="1" spc="70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ratings </a:t>
            </a:r>
            <a:r>
              <a:rPr sz="3200" i="1" spc="60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through</a:t>
            </a:r>
            <a:r>
              <a:rPr sz="3200" i="1" spc="215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 </a:t>
            </a:r>
            <a:r>
              <a:rPr sz="3200" i="1" spc="75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SQL-</a:t>
            </a:r>
            <a:r>
              <a:rPr sz="3200" i="1" spc="60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driven</a:t>
            </a:r>
            <a:r>
              <a:rPr sz="3200" i="1" spc="215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 </a:t>
            </a:r>
            <a:r>
              <a:rPr sz="3200" i="1" spc="80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analysis</a:t>
            </a:r>
            <a:r>
              <a:rPr sz="3200" i="1" spc="220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 </a:t>
            </a:r>
            <a:r>
              <a:rPr sz="3200" i="1" spc="75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(2010–</a:t>
            </a:r>
            <a:r>
              <a:rPr sz="3200" i="1" spc="70" dirty="0">
                <a:solidFill>
                  <a:srgbClr val="292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Light"/>
                <a:cs typeface="Aileron Light"/>
              </a:rPr>
              <a:t>2019).</a:t>
            </a:r>
            <a:endParaRPr sz="32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ileron Light"/>
              <a:cs typeface="Aileron Ligh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1"/>
            <a:ext cx="14536419" cy="948690"/>
            <a:chOff x="0" y="1"/>
            <a:chExt cx="14536419" cy="948690"/>
          </a:xfrm>
        </p:grpSpPr>
        <p:sp>
          <p:nvSpPr>
            <p:cNvPr id="7" name="object 7"/>
            <p:cNvSpPr/>
            <p:nvPr/>
          </p:nvSpPr>
          <p:spPr>
            <a:xfrm>
              <a:off x="0" y="12"/>
              <a:ext cx="14536419" cy="948690"/>
            </a:xfrm>
            <a:custGeom>
              <a:avLst/>
              <a:gdLst/>
              <a:ahLst/>
              <a:cxnLst/>
              <a:rect l="l" t="t" r="r" b="b"/>
              <a:pathLst>
                <a:path w="14536419" h="948690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"/>
              <a:ext cx="8891905" cy="948690"/>
            </a:xfrm>
            <a:custGeom>
              <a:avLst/>
              <a:gdLst/>
              <a:ahLst/>
              <a:cxnLst/>
              <a:rect l="l" t="t" r="r" b="b"/>
              <a:pathLst>
                <a:path w="8891905" h="948690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1"/>
              <a:ext cx="7482205" cy="948690"/>
            </a:xfrm>
            <a:custGeom>
              <a:avLst/>
              <a:gdLst/>
              <a:ahLst/>
              <a:cxnLst/>
              <a:rect l="l" t="t" r="r" b="b"/>
              <a:pathLst>
                <a:path w="7482205" h="948690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0" y="9358312"/>
            <a:ext cx="17358995" cy="9525"/>
          </a:xfrm>
          <a:custGeom>
            <a:avLst/>
            <a:gdLst/>
            <a:ahLst/>
            <a:cxnLst/>
            <a:rect l="l" t="t" r="r" b="b"/>
            <a:pathLst>
              <a:path w="17358995" h="952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3867" y="9544935"/>
            <a:ext cx="55054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25" dirty="0">
                <a:solidFill>
                  <a:srgbClr val="F2620F"/>
                </a:solidFill>
                <a:latin typeface="Aileron Black"/>
                <a:cs typeface="Aileron Black"/>
              </a:rPr>
              <a:t>02.</a:t>
            </a:r>
            <a:endParaRPr sz="2600">
              <a:latin typeface="Aileron Black"/>
              <a:cs typeface="Aileron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60592" y="9625007"/>
            <a:ext cx="16935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62626"/>
                </a:solidFill>
                <a:latin typeface="Aileron"/>
                <a:cs typeface="Aileron"/>
              </a:rPr>
              <a:t>Manthi</a:t>
            </a:r>
            <a:r>
              <a:rPr sz="2000" spc="-65" dirty="0">
                <a:solidFill>
                  <a:srgbClr val="262626"/>
                </a:solidFill>
                <a:latin typeface="Aileron"/>
                <a:cs typeface="Aileron"/>
              </a:rPr>
              <a:t> </a:t>
            </a:r>
            <a:r>
              <a:rPr sz="2000" spc="-10" dirty="0">
                <a:solidFill>
                  <a:srgbClr val="262626"/>
                </a:solidFill>
                <a:latin typeface="Aileron"/>
                <a:cs typeface="Aileron"/>
              </a:rPr>
              <a:t>Gabriel</a:t>
            </a:r>
            <a:endParaRPr sz="2000">
              <a:latin typeface="Aileron"/>
              <a:cs typeface="Ailero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05778" y="9627293"/>
            <a:ext cx="1210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62626"/>
                </a:solidFill>
                <a:latin typeface="Aileron"/>
                <a:cs typeface="Aileron"/>
              </a:rPr>
              <a:t>7/15/2026</a:t>
            </a:r>
            <a:endParaRPr sz="2000">
              <a:latin typeface="Aileron"/>
              <a:cs typeface="Ailero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83849" y="4315145"/>
            <a:ext cx="3776979" cy="25750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4815" indent="-412115">
              <a:lnSpc>
                <a:spcPct val="100000"/>
              </a:lnSpc>
              <a:spcBef>
                <a:spcPts val="100"/>
              </a:spcBef>
              <a:buFont typeface="Aileron Light"/>
              <a:buAutoNum type="arabicPeriod"/>
              <a:tabLst>
                <a:tab pos="424815" algn="l"/>
              </a:tabLst>
            </a:pPr>
            <a:r>
              <a:rPr sz="2600" dirty="0">
                <a:solidFill>
                  <a:srgbClr val="262626"/>
                </a:solidFill>
                <a:latin typeface="Aileron Light"/>
                <a:cs typeface="Aileron Light"/>
              </a:rPr>
              <a:t>Objective</a:t>
            </a:r>
            <a:r>
              <a:rPr sz="2600" spc="-10" dirty="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sz="2600" dirty="0">
                <a:solidFill>
                  <a:srgbClr val="262626"/>
                </a:solidFill>
                <a:latin typeface="Aileron Light"/>
                <a:cs typeface="Aileron Light"/>
              </a:rPr>
              <a:t>and</a:t>
            </a:r>
            <a:r>
              <a:rPr sz="2600" spc="-5" dirty="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sz="2600" spc="-10" dirty="0">
                <a:solidFill>
                  <a:srgbClr val="262626"/>
                </a:solidFill>
                <a:latin typeface="Aileron Light"/>
                <a:cs typeface="Aileron Light"/>
              </a:rPr>
              <a:t>toolstack</a:t>
            </a:r>
            <a:endParaRPr sz="2600" dirty="0">
              <a:latin typeface="Aileron Light"/>
              <a:cs typeface="Aileron Light"/>
            </a:endParaRPr>
          </a:p>
          <a:p>
            <a:pPr marL="424815" indent="-412115">
              <a:spcBef>
                <a:spcPts val="2520"/>
              </a:spcBef>
              <a:buFont typeface="Aileron Light"/>
              <a:buAutoNum type="arabicPeriod"/>
              <a:tabLst>
                <a:tab pos="424815" algn="l"/>
              </a:tabLst>
            </a:pPr>
            <a:r>
              <a:rPr lang="en-US" sz="2600" dirty="0">
                <a:solidFill>
                  <a:srgbClr val="262626"/>
                </a:solidFill>
                <a:latin typeface="Aileron Light"/>
                <a:cs typeface="Aileron Light"/>
              </a:rPr>
              <a:t>Strategy</a:t>
            </a:r>
            <a:r>
              <a:rPr lang="en-US" sz="2600" spc="-40" dirty="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lang="en-US" sz="2600" dirty="0">
                <a:solidFill>
                  <a:srgbClr val="262626"/>
                </a:solidFill>
                <a:latin typeface="Aileron Light"/>
                <a:cs typeface="Aileron Light"/>
              </a:rPr>
              <a:t>and</a:t>
            </a:r>
            <a:r>
              <a:rPr lang="en-US" sz="2600" spc="-40" dirty="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lang="en-US" sz="2600" spc="-10" dirty="0">
                <a:solidFill>
                  <a:srgbClr val="262626"/>
                </a:solidFill>
                <a:latin typeface="Aileron Light"/>
                <a:cs typeface="Aileron Light"/>
              </a:rPr>
              <a:t>method</a:t>
            </a:r>
            <a:endParaRPr lang="en-US" sz="2600" dirty="0">
              <a:solidFill>
                <a:srgbClr val="262626"/>
              </a:solidFill>
              <a:latin typeface="Aileron Light"/>
              <a:cs typeface="Aileron Light"/>
            </a:endParaRPr>
          </a:p>
          <a:p>
            <a:pPr marL="424815" indent="-412115">
              <a:lnSpc>
                <a:spcPct val="100000"/>
              </a:lnSpc>
              <a:spcBef>
                <a:spcPts val="2520"/>
              </a:spcBef>
              <a:buFont typeface="Aileron Light"/>
              <a:buAutoNum type="arabicPeriod"/>
              <a:tabLst>
                <a:tab pos="424815" algn="l"/>
              </a:tabLst>
            </a:pPr>
            <a:r>
              <a:rPr sz="2600" dirty="0">
                <a:solidFill>
                  <a:srgbClr val="262626"/>
                </a:solidFill>
                <a:latin typeface="Aileron Light"/>
                <a:cs typeface="Aileron Light"/>
              </a:rPr>
              <a:t>What</a:t>
            </a:r>
            <a:r>
              <a:rPr sz="2600" spc="-20" dirty="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sz="2600" dirty="0">
                <a:solidFill>
                  <a:srgbClr val="262626"/>
                </a:solidFill>
                <a:latin typeface="Aileron Light"/>
                <a:cs typeface="Aileron Light"/>
              </a:rPr>
              <a:t>the</a:t>
            </a:r>
            <a:r>
              <a:rPr sz="2600" spc="-15" dirty="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sz="2600" dirty="0">
                <a:solidFill>
                  <a:srgbClr val="262626"/>
                </a:solidFill>
                <a:latin typeface="Aileron Light"/>
                <a:cs typeface="Aileron Light"/>
              </a:rPr>
              <a:t>data</a:t>
            </a:r>
            <a:r>
              <a:rPr sz="2600" spc="-15" dirty="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sz="2600" spc="-10" dirty="0">
                <a:solidFill>
                  <a:srgbClr val="262626"/>
                </a:solidFill>
                <a:latin typeface="Aileron Light"/>
                <a:cs typeface="Aileron Light"/>
              </a:rPr>
              <a:t>shows</a:t>
            </a:r>
            <a:endParaRPr sz="2600" dirty="0">
              <a:latin typeface="Aileron Light"/>
              <a:cs typeface="Aileron Light"/>
            </a:endParaRPr>
          </a:p>
          <a:p>
            <a:pPr marL="424815" indent="-412115">
              <a:lnSpc>
                <a:spcPct val="100000"/>
              </a:lnSpc>
              <a:spcBef>
                <a:spcPts val="2520"/>
              </a:spcBef>
              <a:buFont typeface="Aileron Light"/>
              <a:buAutoNum type="arabicPeriod"/>
              <a:tabLst>
                <a:tab pos="424815" algn="l"/>
              </a:tabLst>
            </a:pPr>
            <a:r>
              <a:rPr lang="en-US" sz="2600" spc="-10" dirty="0">
                <a:solidFill>
                  <a:srgbClr val="262626"/>
                </a:solidFill>
                <a:latin typeface="Aileron Light"/>
                <a:cs typeface="Aileron Light"/>
              </a:rPr>
              <a:t>Findings &amp; </a:t>
            </a:r>
            <a:r>
              <a:rPr sz="2600" spc="-10" dirty="0">
                <a:solidFill>
                  <a:srgbClr val="262626"/>
                </a:solidFill>
                <a:latin typeface="Aileron Light"/>
                <a:cs typeface="Aileron Light"/>
              </a:rPr>
              <a:t>Takeaways</a:t>
            </a:r>
            <a:endParaRPr sz="2600" dirty="0">
              <a:latin typeface="Aileron Light"/>
              <a:cs typeface="Aileron Light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59337" rIns="0" bIns="0" rtlCol="0">
            <a:spAutoFit/>
          </a:bodyPr>
          <a:lstStyle/>
          <a:p>
            <a:pPr marL="232346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ileron SemiBold"/>
                <a:cs typeface="Aileron SemiBold"/>
              </a:rPr>
              <a:t>What</a:t>
            </a:r>
            <a:r>
              <a:rPr b="1" spc="-254" dirty="0">
                <a:latin typeface="Aileron SemiBold"/>
                <a:cs typeface="Aileron SemiBold"/>
              </a:rPr>
              <a:t> </a:t>
            </a:r>
            <a:r>
              <a:rPr b="1" dirty="0">
                <a:latin typeface="Aileron SemiBold"/>
                <a:cs typeface="Aileron SemiBold"/>
              </a:rPr>
              <a:t>We'll</a:t>
            </a:r>
            <a:r>
              <a:rPr b="1" spc="-240" dirty="0">
                <a:latin typeface="Aileron SemiBold"/>
                <a:cs typeface="Aileron SemiBold"/>
              </a:rPr>
              <a:t> </a:t>
            </a:r>
            <a:r>
              <a:rPr b="1" spc="-10" dirty="0">
                <a:latin typeface="Aileron SemiBold"/>
                <a:cs typeface="Aileron SemiBold"/>
              </a:rPr>
              <a:t>Cover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018832" y="2392782"/>
            <a:ext cx="845819" cy="845819"/>
            <a:chOff x="1018832" y="2392782"/>
            <a:chExt cx="845819" cy="845819"/>
          </a:xfrm>
        </p:grpSpPr>
        <p:sp>
          <p:nvSpPr>
            <p:cNvPr id="8" name="object 8"/>
            <p:cNvSpPr/>
            <p:nvPr/>
          </p:nvSpPr>
          <p:spPr>
            <a:xfrm>
              <a:off x="1018832" y="2392789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17063" y="2392782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18832" y="2543479"/>
              <a:ext cx="845819" cy="695325"/>
            </a:xfrm>
            <a:custGeom>
              <a:avLst/>
              <a:gdLst/>
              <a:ahLst/>
              <a:cxnLst/>
              <a:rect l="l" t="t" r="r" b="b"/>
              <a:pathLst>
                <a:path w="845819" h="695325">
                  <a:moveTo>
                    <a:pt x="845540" y="518782"/>
                  </a:moveTo>
                  <a:lnTo>
                    <a:pt x="839533" y="473151"/>
                  </a:lnTo>
                  <a:lnTo>
                    <a:pt x="821918" y="430618"/>
                  </a:lnTo>
                  <a:lnTo>
                    <a:pt x="793889" y="394106"/>
                  </a:lnTo>
                  <a:lnTo>
                    <a:pt x="399783" y="0"/>
                  </a:lnTo>
                  <a:lnTo>
                    <a:pt x="150698" y="249085"/>
                  </a:lnTo>
                  <a:lnTo>
                    <a:pt x="173685" y="272084"/>
                  </a:lnTo>
                  <a:lnTo>
                    <a:pt x="51650" y="394119"/>
                  </a:lnTo>
                  <a:lnTo>
                    <a:pt x="23622" y="430631"/>
                  </a:lnTo>
                  <a:lnTo>
                    <a:pt x="6007" y="473163"/>
                  </a:lnTo>
                  <a:lnTo>
                    <a:pt x="0" y="518795"/>
                  </a:lnTo>
                  <a:lnTo>
                    <a:pt x="381" y="530339"/>
                  </a:lnTo>
                  <a:lnTo>
                    <a:pt x="9359" y="575487"/>
                  </a:lnTo>
                  <a:lnTo>
                    <a:pt x="29718" y="616762"/>
                  </a:lnTo>
                  <a:lnTo>
                    <a:pt x="59855" y="651154"/>
                  </a:lnTo>
                  <a:lnTo>
                    <a:pt x="98069" y="676668"/>
                  </a:lnTo>
                  <a:lnTo>
                    <a:pt x="141655" y="691464"/>
                  </a:lnTo>
                  <a:lnTo>
                    <a:pt x="176060" y="694855"/>
                  </a:lnTo>
                  <a:lnTo>
                    <a:pt x="187591" y="694474"/>
                  </a:lnTo>
                  <a:lnTo>
                    <a:pt x="232740" y="685495"/>
                  </a:lnTo>
                  <a:lnTo>
                    <a:pt x="274027" y="665124"/>
                  </a:lnTo>
                  <a:lnTo>
                    <a:pt x="422770" y="521169"/>
                  </a:lnTo>
                  <a:lnTo>
                    <a:pt x="544804" y="643191"/>
                  </a:lnTo>
                  <a:lnTo>
                    <a:pt x="581317" y="671220"/>
                  </a:lnTo>
                  <a:lnTo>
                    <a:pt x="623849" y="688835"/>
                  </a:lnTo>
                  <a:lnTo>
                    <a:pt x="669480" y="694842"/>
                  </a:lnTo>
                  <a:lnTo>
                    <a:pt x="681012" y="694461"/>
                  </a:lnTo>
                  <a:lnTo>
                    <a:pt x="726160" y="685482"/>
                  </a:lnTo>
                  <a:lnTo>
                    <a:pt x="767435" y="665124"/>
                  </a:lnTo>
                  <a:lnTo>
                    <a:pt x="801839" y="634987"/>
                  </a:lnTo>
                  <a:lnTo>
                    <a:pt x="827354" y="596773"/>
                  </a:lnTo>
                  <a:lnTo>
                    <a:pt x="842149" y="553186"/>
                  </a:lnTo>
                  <a:lnTo>
                    <a:pt x="845159" y="530326"/>
                  </a:lnTo>
                  <a:lnTo>
                    <a:pt x="845540" y="518782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0" y="1"/>
            <a:ext cx="14536419" cy="948690"/>
            <a:chOff x="0" y="1"/>
            <a:chExt cx="14536419" cy="948690"/>
          </a:xfrm>
        </p:grpSpPr>
        <p:sp>
          <p:nvSpPr>
            <p:cNvPr id="12" name="object 12"/>
            <p:cNvSpPr/>
            <p:nvPr/>
          </p:nvSpPr>
          <p:spPr>
            <a:xfrm>
              <a:off x="0" y="12"/>
              <a:ext cx="14536419" cy="948690"/>
            </a:xfrm>
            <a:custGeom>
              <a:avLst/>
              <a:gdLst/>
              <a:ahLst/>
              <a:cxnLst/>
              <a:rect l="l" t="t" r="r" b="b"/>
              <a:pathLst>
                <a:path w="14536419" h="948690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1"/>
              <a:ext cx="8891905" cy="948690"/>
            </a:xfrm>
            <a:custGeom>
              <a:avLst/>
              <a:gdLst/>
              <a:ahLst/>
              <a:cxnLst/>
              <a:rect l="l" t="t" r="r" b="b"/>
              <a:pathLst>
                <a:path w="8891905" h="948690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1"/>
              <a:ext cx="7482205" cy="948690"/>
            </a:xfrm>
            <a:custGeom>
              <a:avLst/>
              <a:gdLst/>
              <a:ahLst/>
              <a:cxnLst/>
              <a:rect l="l" t="t" r="r" b="b"/>
              <a:pathLst>
                <a:path w="7482205" h="948690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0" y="9358312"/>
            <a:ext cx="17358995" cy="9525"/>
          </a:xfrm>
          <a:custGeom>
            <a:avLst/>
            <a:gdLst/>
            <a:ahLst/>
            <a:cxnLst/>
            <a:rect l="l" t="t" r="r" b="b"/>
            <a:pathLst>
              <a:path w="17358995" h="952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705B9-6ECD-40EA-B053-DCA28AE99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00" y="2359748"/>
            <a:ext cx="15011400" cy="923330"/>
          </a:xfrm>
        </p:spPr>
        <p:txBody>
          <a:bodyPr/>
          <a:lstStyle/>
          <a:p>
            <a:r>
              <a:rPr lang="en-US" sz="6000" b="1" dirty="0">
                <a:solidFill>
                  <a:srgbClr val="262626"/>
                </a:solidFill>
                <a:latin typeface="Aileron Light"/>
              </a:rPr>
              <a:t>Objective </a:t>
            </a:r>
          </a:p>
        </p:txBody>
      </p:sp>
      <p:grpSp>
        <p:nvGrpSpPr>
          <p:cNvPr id="4" name="object 7">
            <a:extLst>
              <a:ext uri="{FF2B5EF4-FFF2-40B4-BE49-F238E27FC236}">
                <a16:creationId xmlns:a16="http://schemas.microsoft.com/office/drawing/2014/main" id="{BEF2C7CF-C33A-4E84-B93E-CD0AB9CBF626}"/>
              </a:ext>
            </a:extLst>
          </p:cNvPr>
          <p:cNvGrpSpPr/>
          <p:nvPr/>
        </p:nvGrpSpPr>
        <p:grpSpPr>
          <a:xfrm>
            <a:off x="1018832" y="2392782"/>
            <a:ext cx="845819" cy="845819"/>
            <a:chOff x="1018832" y="2392782"/>
            <a:chExt cx="845819" cy="845819"/>
          </a:xfrm>
        </p:grpSpPr>
        <p:sp>
          <p:nvSpPr>
            <p:cNvPr id="5" name="object 8">
              <a:extLst>
                <a:ext uri="{FF2B5EF4-FFF2-40B4-BE49-F238E27FC236}">
                  <a16:creationId xmlns:a16="http://schemas.microsoft.com/office/drawing/2014/main" id="{DDE7265A-372D-41C8-BD24-E308E0CB75ED}"/>
                </a:ext>
              </a:extLst>
            </p:cNvPr>
            <p:cNvSpPr/>
            <p:nvPr/>
          </p:nvSpPr>
          <p:spPr>
            <a:xfrm>
              <a:off x="1018832" y="2392789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9">
              <a:extLst>
                <a:ext uri="{FF2B5EF4-FFF2-40B4-BE49-F238E27FC236}">
                  <a16:creationId xmlns:a16="http://schemas.microsoft.com/office/drawing/2014/main" id="{848E05F7-105B-467A-8868-8BE9EC054143}"/>
                </a:ext>
              </a:extLst>
            </p:cNvPr>
            <p:cNvSpPr/>
            <p:nvPr/>
          </p:nvSpPr>
          <p:spPr>
            <a:xfrm>
              <a:off x="1317063" y="2392782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10">
              <a:extLst>
                <a:ext uri="{FF2B5EF4-FFF2-40B4-BE49-F238E27FC236}">
                  <a16:creationId xmlns:a16="http://schemas.microsoft.com/office/drawing/2014/main" id="{BEB67CA5-B987-4A59-91E9-2F280D095B8F}"/>
                </a:ext>
              </a:extLst>
            </p:cNvPr>
            <p:cNvSpPr/>
            <p:nvPr/>
          </p:nvSpPr>
          <p:spPr>
            <a:xfrm>
              <a:off x="1018832" y="2543479"/>
              <a:ext cx="845819" cy="695325"/>
            </a:xfrm>
            <a:custGeom>
              <a:avLst/>
              <a:gdLst/>
              <a:ahLst/>
              <a:cxnLst/>
              <a:rect l="l" t="t" r="r" b="b"/>
              <a:pathLst>
                <a:path w="845819" h="695325">
                  <a:moveTo>
                    <a:pt x="845540" y="518782"/>
                  </a:moveTo>
                  <a:lnTo>
                    <a:pt x="839533" y="473151"/>
                  </a:lnTo>
                  <a:lnTo>
                    <a:pt x="821918" y="430618"/>
                  </a:lnTo>
                  <a:lnTo>
                    <a:pt x="793889" y="394106"/>
                  </a:lnTo>
                  <a:lnTo>
                    <a:pt x="399783" y="0"/>
                  </a:lnTo>
                  <a:lnTo>
                    <a:pt x="150698" y="249085"/>
                  </a:lnTo>
                  <a:lnTo>
                    <a:pt x="173685" y="272084"/>
                  </a:lnTo>
                  <a:lnTo>
                    <a:pt x="51650" y="394119"/>
                  </a:lnTo>
                  <a:lnTo>
                    <a:pt x="23622" y="430631"/>
                  </a:lnTo>
                  <a:lnTo>
                    <a:pt x="6007" y="473163"/>
                  </a:lnTo>
                  <a:lnTo>
                    <a:pt x="0" y="518795"/>
                  </a:lnTo>
                  <a:lnTo>
                    <a:pt x="381" y="530339"/>
                  </a:lnTo>
                  <a:lnTo>
                    <a:pt x="9359" y="575487"/>
                  </a:lnTo>
                  <a:lnTo>
                    <a:pt x="29718" y="616762"/>
                  </a:lnTo>
                  <a:lnTo>
                    <a:pt x="59855" y="651154"/>
                  </a:lnTo>
                  <a:lnTo>
                    <a:pt x="98069" y="676668"/>
                  </a:lnTo>
                  <a:lnTo>
                    <a:pt x="141655" y="691464"/>
                  </a:lnTo>
                  <a:lnTo>
                    <a:pt x="176060" y="694855"/>
                  </a:lnTo>
                  <a:lnTo>
                    <a:pt x="187591" y="694474"/>
                  </a:lnTo>
                  <a:lnTo>
                    <a:pt x="232740" y="685495"/>
                  </a:lnTo>
                  <a:lnTo>
                    <a:pt x="274027" y="665124"/>
                  </a:lnTo>
                  <a:lnTo>
                    <a:pt x="422770" y="521169"/>
                  </a:lnTo>
                  <a:lnTo>
                    <a:pt x="544804" y="643191"/>
                  </a:lnTo>
                  <a:lnTo>
                    <a:pt x="581317" y="671220"/>
                  </a:lnTo>
                  <a:lnTo>
                    <a:pt x="623849" y="688835"/>
                  </a:lnTo>
                  <a:lnTo>
                    <a:pt x="669480" y="694842"/>
                  </a:lnTo>
                  <a:lnTo>
                    <a:pt x="681012" y="694461"/>
                  </a:lnTo>
                  <a:lnTo>
                    <a:pt x="726160" y="685482"/>
                  </a:lnTo>
                  <a:lnTo>
                    <a:pt x="767435" y="665124"/>
                  </a:lnTo>
                  <a:lnTo>
                    <a:pt x="801839" y="634987"/>
                  </a:lnTo>
                  <a:lnTo>
                    <a:pt x="827354" y="596773"/>
                  </a:lnTo>
                  <a:lnTo>
                    <a:pt x="842149" y="553186"/>
                  </a:lnTo>
                  <a:lnTo>
                    <a:pt x="845159" y="530326"/>
                  </a:lnTo>
                  <a:lnTo>
                    <a:pt x="845540" y="518782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11">
            <a:extLst>
              <a:ext uri="{FF2B5EF4-FFF2-40B4-BE49-F238E27FC236}">
                <a16:creationId xmlns:a16="http://schemas.microsoft.com/office/drawing/2014/main" id="{FDB1E906-77FC-443F-AD66-B41041AE5401}"/>
              </a:ext>
            </a:extLst>
          </p:cNvPr>
          <p:cNvGrpSpPr/>
          <p:nvPr/>
        </p:nvGrpSpPr>
        <p:grpSpPr>
          <a:xfrm>
            <a:off x="0" y="1"/>
            <a:ext cx="14536419" cy="948690"/>
            <a:chOff x="0" y="1"/>
            <a:chExt cx="14536419" cy="948690"/>
          </a:xfrm>
        </p:grpSpPr>
        <p:sp>
          <p:nvSpPr>
            <p:cNvPr id="9" name="object 12">
              <a:extLst>
                <a:ext uri="{FF2B5EF4-FFF2-40B4-BE49-F238E27FC236}">
                  <a16:creationId xmlns:a16="http://schemas.microsoft.com/office/drawing/2014/main" id="{DF4BF278-6E14-4C22-974F-78F05F8261F3}"/>
                </a:ext>
              </a:extLst>
            </p:cNvPr>
            <p:cNvSpPr/>
            <p:nvPr/>
          </p:nvSpPr>
          <p:spPr>
            <a:xfrm>
              <a:off x="0" y="12"/>
              <a:ext cx="14536419" cy="948690"/>
            </a:xfrm>
            <a:custGeom>
              <a:avLst/>
              <a:gdLst/>
              <a:ahLst/>
              <a:cxnLst/>
              <a:rect l="l" t="t" r="r" b="b"/>
              <a:pathLst>
                <a:path w="14536419" h="948690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3">
              <a:extLst>
                <a:ext uri="{FF2B5EF4-FFF2-40B4-BE49-F238E27FC236}">
                  <a16:creationId xmlns:a16="http://schemas.microsoft.com/office/drawing/2014/main" id="{CA155C4D-791F-463F-AD6F-4CE7A3F90BF8}"/>
                </a:ext>
              </a:extLst>
            </p:cNvPr>
            <p:cNvSpPr/>
            <p:nvPr/>
          </p:nvSpPr>
          <p:spPr>
            <a:xfrm>
              <a:off x="0" y="1"/>
              <a:ext cx="8891905" cy="948690"/>
            </a:xfrm>
            <a:custGeom>
              <a:avLst/>
              <a:gdLst/>
              <a:ahLst/>
              <a:cxnLst/>
              <a:rect l="l" t="t" r="r" b="b"/>
              <a:pathLst>
                <a:path w="8891905" h="948690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4">
              <a:extLst>
                <a:ext uri="{FF2B5EF4-FFF2-40B4-BE49-F238E27FC236}">
                  <a16:creationId xmlns:a16="http://schemas.microsoft.com/office/drawing/2014/main" id="{803C9854-AAF6-4C4B-BD88-F3272D07C901}"/>
                </a:ext>
              </a:extLst>
            </p:cNvPr>
            <p:cNvSpPr/>
            <p:nvPr/>
          </p:nvSpPr>
          <p:spPr>
            <a:xfrm>
              <a:off x="0" y="1"/>
              <a:ext cx="7482205" cy="948690"/>
            </a:xfrm>
            <a:custGeom>
              <a:avLst/>
              <a:gdLst/>
              <a:ahLst/>
              <a:cxnLst/>
              <a:rect l="l" t="t" r="r" b="b"/>
              <a:pathLst>
                <a:path w="7482205" h="948690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6AD9AE9-23D4-4923-ACE2-7C0705036376}"/>
              </a:ext>
            </a:extLst>
          </p:cNvPr>
          <p:cNvSpPr txBox="1">
            <a:spLocks/>
          </p:cNvSpPr>
          <p:nvPr/>
        </p:nvSpPr>
        <p:spPr>
          <a:xfrm>
            <a:off x="1864433" y="3448055"/>
            <a:ext cx="14823367" cy="5909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/>
              <a:t>To explore the relationship between </a:t>
            </a:r>
            <a:r>
              <a:rPr lang="en-US" sz="4800" b="1" dirty="0"/>
              <a:t>movie runtime</a:t>
            </a:r>
            <a:r>
              <a:rPr lang="en-US" sz="4800" dirty="0"/>
              <a:t> and </a:t>
            </a:r>
            <a:r>
              <a:rPr lang="en-US" sz="4800" b="1" dirty="0"/>
              <a:t>audience ratings</a:t>
            </a:r>
            <a:r>
              <a:rPr lang="en-US" sz="4800" dirty="0"/>
              <a:t> using SQL, Pandas, and Seaborn in order to identify trends that could support evidence-based decision-making in the film industry.</a:t>
            </a:r>
          </a:p>
          <a:p>
            <a:endParaRPr lang="en-US" sz="48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1" dirty="0"/>
              <a:t>Data Source:</a:t>
            </a:r>
            <a:r>
              <a:rPr lang="en-US" sz="4800" dirty="0"/>
              <a:t> IMDB Movies Database (2010–2019)</a:t>
            </a:r>
          </a:p>
          <a:p>
            <a:endParaRPr lang="en-US" sz="48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1" dirty="0"/>
              <a:t>Tools Used:</a:t>
            </a:r>
            <a:r>
              <a:rPr lang="en-US" sz="4800" dirty="0"/>
              <a:t> SQL, SQLite, Pandas, Seaborn, Matplotlib</a:t>
            </a:r>
          </a:p>
        </p:txBody>
      </p:sp>
    </p:spTree>
    <p:extLst>
      <p:ext uri="{BB962C8B-B14F-4D97-AF65-F5344CB8AC3E}">
        <p14:creationId xmlns:p14="http://schemas.microsoft.com/office/powerpoint/2010/main" val="164102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298FC-B2AA-47A1-802E-D87DF158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678" y="2020259"/>
            <a:ext cx="14818994" cy="1046440"/>
          </a:xfrm>
        </p:spPr>
        <p:txBody>
          <a:bodyPr/>
          <a:lstStyle/>
          <a:p>
            <a:r>
              <a:rPr lang="en-US" b="1" dirty="0"/>
              <a:t>Initial Exploration Findings</a:t>
            </a:r>
            <a:endParaRPr lang="en-KE" b="1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00E1115-C1C5-4A40-80A3-4D9CDE2B115E}"/>
              </a:ext>
            </a:extLst>
          </p:cNvPr>
          <p:cNvSpPr txBox="1">
            <a:spLocks/>
          </p:cNvSpPr>
          <p:nvPr/>
        </p:nvSpPr>
        <p:spPr>
          <a:xfrm>
            <a:off x="1393363" y="3311486"/>
            <a:ext cx="16208837" cy="66479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SQL Exploration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</a:rPr>
              <a:t>Joined the </a:t>
            </a:r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</a:rPr>
              <a:t>movie_basics 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</a:rPr>
              <a:t>and </a:t>
            </a:r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</a:rPr>
              <a:t>movie_ratings 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</a:rPr>
              <a:t>tables using </a:t>
            </a:r>
            <a:r>
              <a:rPr lang="en-US" sz="3600" b="1" dirty="0" err="1">
                <a:solidFill>
                  <a:schemeClr val="tx1"/>
                </a:solidFill>
                <a:latin typeface="Arial" panose="020B0604020202020204" pitchFamily="34" charset="0"/>
              </a:rPr>
              <a:t>movie_id</a:t>
            </a:r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en-US" altLang="en-KE" sz="3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E" altLang="en-KE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Restricted the analysis to movies released between </a:t>
            </a:r>
            <a:r>
              <a:rPr kumimoji="0" lang="en-KE" altLang="en-KE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2010 and 2019</a:t>
            </a:r>
            <a:r>
              <a:rPr kumimoji="0" lang="en-KE" altLang="en-KE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E" altLang="en-KE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Excluded records with missing runtime and audience rating values.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E" altLang="en-KE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Filtered the dataset to include movies with runtimes between </a:t>
            </a:r>
            <a:r>
              <a:rPr kumimoji="0" lang="en-KE" altLang="en-KE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 and 240 minutes</a:t>
            </a:r>
            <a:r>
              <a:rPr kumimoji="0" lang="en-KE" altLang="en-KE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remove unrealistic values.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</a:rPr>
              <a:t>Movies with </a:t>
            </a:r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</a:rPr>
              <a:t>fewer than 1,000 audience 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</a:rPr>
              <a:t>votes were excluded to improve the reliability of the ratings and reduce the influence of movies with limited audience feedback.</a:t>
            </a:r>
            <a:r>
              <a:rPr lang="en-KE" altLang="en-KE" sz="3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E" altLang="en-KE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a </a:t>
            </a:r>
            <a:r>
              <a:rPr kumimoji="0" lang="en-KE" altLang="en-KE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scatter plot with a regression (trend) line</a:t>
            </a:r>
            <a:r>
              <a:rPr kumimoji="0" lang="en-KE" altLang="en-KE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examine the relationship between movie runtime and audience ratings. </a:t>
            </a:r>
          </a:p>
          <a:p>
            <a:endParaRPr lang="en-US" sz="3600" b="1" dirty="0"/>
          </a:p>
        </p:txBody>
      </p:sp>
      <p:grpSp>
        <p:nvGrpSpPr>
          <p:cNvPr id="5" name="object 11">
            <a:extLst>
              <a:ext uri="{FF2B5EF4-FFF2-40B4-BE49-F238E27FC236}">
                <a16:creationId xmlns:a16="http://schemas.microsoft.com/office/drawing/2014/main" id="{2787C0CF-E70C-4F60-8749-C4189F66B207}"/>
              </a:ext>
            </a:extLst>
          </p:cNvPr>
          <p:cNvGrpSpPr/>
          <p:nvPr/>
        </p:nvGrpSpPr>
        <p:grpSpPr>
          <a:xfrm>
            <a:off x="0" y="1"/>
            <a:ext cx="14536419" cy="948690"/>
            <a:chOff x="0" y="1"/>
            <a:chExt cx="14536419" cy="948690"/>
          </a:xfrm>
        </p:grpSpPr>
        <p:sp>
          <p:nvSpPr>
            <p:cNvPr id="6" name="object 12">
              <a:extLst>
                <a:ext uri="{FF2B5EF4-FFF2-40B4-BE49-F238E27FC236}">
                  <a16:creationId xmlns:a16="http://schemas.microsoft.com/office/drawing/2014/main" id="{AC1F9826-EDA9-47E5-A9A4-5F1C94A17CA2}"/>
                </a:ext>
              </a:extLst>
            </p:cNvPr>
            <p:cNvSpPr/>
            <p:nvPr/>
          </p:nvSpPr>
          <p:spPr>
            <a:xfrm>
              <a:off x="0" y="12"/>
              <a:ext cx="14536419" cy="948690"/>
            </a:xfrm>
            <a:custGeom>
              <a:avLst/>
              <a:gdLst/>
              <a:ahLst/>
              <a:cxnLst/>
              <a:rect l="l" t="t" r="r" b="b"/>
              <a:pathLst>
                <a:path w="14536419" h="948690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13">
              <a:extLst>
                <a:ext uri="{FF2B5EF4-FFF2-40B4-BE49-F238E27FC236}">
                  <a16:creationId xmlns:a16="http://schemas.microsoft.com/office/drawing/2014/main" id="{0239DED7-9B99-47BC-AA01-5140EB74E33A}"/>
                </a:ext>
              </a:extLst>
            </p:cNvPr>
            <p:cNvSpPr/>
            <p:nvPr/>
          </p:nvSpPr>
          <p:spPr>
            <a:xfrm>
              <a:off x="0" y="1"/>
              <a:ext cx="8891905" cy="948690"/>
            </a:xfrm>
            <a:custGeom>
              <a:avLst/>
              <a:gdLst/>
              <a:ahLst/>
              <a:cxnLst/>
              <a:rect l="l" t="t" r="r" b="b"/>
              <a:pathLst>
                <a:path w="8891905" h="948690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4">
              <a:extLst>
                <a:ext uri="{FF2B5EF4-FFF2-40B4-BE49-F238E27FC236}">
                  <a16:creationId xmlns:a16="http://schemas.microsoft.com/office/drawing/2014/main" id="{AACB6093-45D7-40E2-8D6B-8918E47D7AE3}"/>
                </a:ext>
              </a:extLst>
            </p:cNvPr>
            <p:cNvSpPr/>
            <p:nvPr/>
          </p:nvSpPr>
          <p:spPr>
            <a:xfrm>
              <a:off x="0" y="1"/>
              <a:ext cx="7482205" cy="948690"/>
            </a:xfrm>
            <a:custGeom>
              <a:avLst/>
              <a:gdLst/>
              <a:ahLst/>
              <a:cxnLst/>
              <a:rect l="l" t="t" r="r" b="b"/>
              <a:pathLst>
                <a:path w="7482205" h="948690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7">
            <a:extLst>
              <a:ext uri="{FF2B5EF4-FFF2-40B4-BE49-F238E27FC236}">
                <a16:creationId xmlns:a16="http://schemas.microsoft.com/office/drawing/2014/main" id="{965F38A7-66B1-4EAC-83AC-9BEDBED5BEA1}"/>
              </a:ext>
            </a:extLst>
          </p:cNvPr>
          <p:cNvGrpSpPr/>
          <p:nvPr/>
        </p:nvGrpSpPr>
        <p:grpSpPr>
          <a:xfrm>
            <a:off x="817418" y="2120569"/>
            <a:ext cx="845819" cy="845819"/>
            <a:chOff x="1018832" y="2392782"/>
            <a:chExt cx="845819" cy="845819"/>
          </a:xfrm>
        </p:grpSpPr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037D949E-2948-40A4-8A10-BAEE272107DA}"/>
                </a:ext>
              </a:extLst>
            </p:cNvPr>
            <p:cNvSpPr/>
            <p:nvPr/>
          </p:nvSpPr>
          <p:spPr>
            <a:xfrm>
              <a:off x="1018832" y="2392789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3422751E-D343-4094-88DA-09580079C9FD}"/>
                </a:ext>
              </a:extLst>
            </p:cNvPr>
            <p:cNvSpPr/>
            <p:nvPr/>
          </p:nvSpPr>
          <p:spPr>
            <a:xfrm>
              <a:off x="1317063" y="2392782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01FA51A1-A6D2-4200-A8D2-A2611AC3D927}"/>
                </a:ext>
              </a:extLst>
            </p:cNvPr>
            <p:cNvSpPr/>
            <p:nvPr/>
          </p:nvSpPr>
          <p:spPr>
            <a:xfrm>
              <a:off x="1018832" y="2543479"/>
              <a:ext cx="845819" cy="695325"/>
            </a:xfrm>
            <a:custGeom>
              <a:avLst/>
              <a:gdLst/>
              <a:ahLst/>
              <a:cxnLst/>
              <a:rect l="l" t="t" r="r" b="b"/>
              <a:pathLst>
                <a:path w="845819" h="695325">
                  <a:moveTo>
                    <a:pt x="845540" y="518782"/>
                  </a:moveTo>
                  <a:lnTo>
                    <a:pt x="839533" y="473151"/>
                  </a:lnTo>
                  <a:lnTo>
                    <a:pt x="821918" y="430618"/>
                  </a:lnTo>
                  <a:lnTo>
                    <a:pt x="793889" y="394106"/>
                  </a:lnTo>
                  <a:lnTo>
                    <a:pt x="399783" y="0"/>
                  </a:lnTo>
                  <a:lnTo>
                    <a:pt x="150698" y="249085"/>
                  </a:lnTo>
                  <a:lnTo>
                    <a:pt x="173685" y="272084"/>
                  </a:lnTo>
                  <a:lnTo>
                    <a:pt x="51650" y="394119"/>
                  </a:lnTo>
                  <a:lnTo>
                    <a:pt x="23622" y="430631"/>
                  </a:lnTo>
                  <a:lnTo>
                    <a:pt x="6007" y="473163"/>
                  </a:lnTo>
                  <a:lnTo>
                    <a:pt x="0" y="518795"/>
                  </a:lnTo>
                  <a:lnTo>
                    <a:pt x="381" y="530339"/>
                  </a:lnTo>
                  <a:lnTo>
                    <a:pt x="9359" y="575487"/>
                  </a:lnTo>
                  <a:lnTo>
                    <a:pt x="29718" y="616762"/>
                  </a:lnTo>
                  <a:lnTo>
                    <a:pt x="59855" y="651154"/>
                  </a:lnTo>
                  <a:lnTo>
                    <a:pt x="98069" y="676668"/>
                  </a:lnTo>
                  <a:lnTo>
                    <a:pt x="141655" y="691464"/>
                  </a:lnTo>
                  <a:lnTo>
                    <a:pt x="176060" y="694855"/>
                  </a:lnTo>
                  <a:lnTo>
                    <a:pt x="187591" y="694474"/>
                  </a:lnTo>
                  <a:lnTo>
                    <a:pt x="232740" y="685495"/>
                  </a:lnTo>
                  <a:lnTo>
                    <a:pt x="274027" y="665124"/>
                  </a:lnTo>
                  <a:lnTo>
                    <a:pt x="422770" y="521169"/>
                  </a:lnTo>
                  <a:lnTo>
                    <a:pt x="544804" y="643191"/>
                  </a:lnTo>
                  <a:lnTo>
                    <a:pt x="581317" y="671220"/>
                  </a:lnTo>
                  <a:lnTo>
                    <a:pt x="623849" y="688835"/>
                  </a:lnTo>
                  <a:lnTo>
                    <a:pt x="669480" y="694842"/>
                  </a:lnTo>
                  <a:lnTo>
                    <a:pt x="681012" y="694461"/>
                  </a:lnTo>
                  <a:lnTo>
                    <a:pt x="726160" y="685482"/>
                  </a:lnTo>
                  <a:lnTo>
                    <a:pt x="767435" y="665124"/>
                  </a:lnTo>
                  <a:lnTo>
                    <a:pt x="801839" y="634987"/>
                  </a:lnTo>
                  <a:lnTo>
                    <a:pt x="827354" y="596773"/>
                  </a:lnTo>
                  <a:lnTo>
                    <a:pt x="842149" y="553186"/>
                  </a:lnTo>
                  <a:lnTo>
                    <a:pt x="845159" y="530326"/>
                  </a:lnTo>
                  <a:lnTo>
                    <a:pt x="845540" y="518782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91363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298FC-B2AA-47A1-802E-D87DF158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678" y="2020259"/>
            <a:ext cx="14818994" cy="1107996"/>
          </a:xfrm>
        </p:spPr>
        <p:txBody>
          <a:bodyPr/>
          <a:lstStyle/>
          <a:p>
            <a:r>
              <a:rPr lang="en-US" sz="7200" b="1" dirty="0"/>
              <a:t>Business Question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00E1115-C1C5-4A40-80A3-4D9CDE2B115E}"/>
              </a:ext>
            </a:extLst>
          </p:cNvPr>
          <p:cNvSpPr txBox="1">
            <a:spLocks/>
          </p:cNvSpPr>
          <p:nvPr/>
        </p:nvSpPr>
        <p:spPr>
          <a:xfrm>
            <a:off x="1981200" y="3924300"/>
            <a:ext cx="14818994" cy="2769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/>
              <a:t>Does </a:t>
            </a:r>
            <a:r>
              <a:rPr lang="en-US" sz="6000" b="1" i="1" dirty="0">
                <a:solidFill>
                  <a:srgbClr val="FF0000"/>
                </a:solidFill>
              </a:rPr>
              <a:t>movie runtime </a:t>
            </a:r>
            <a:r>
              <a:rPr lang="en-US" sz="6000" dirty="0"/>
              <a:t>influence </a:t>
            </a:r>
            <a:r>
              <a:rPr lang="en-US" sz="6000" b="1" i="1" dirty="0">
                <a:solidFill>
                  <a:srgbClr val="FF0000"/>
                </a:solidFill>
              </a:rPr>
              <a:t>audience ratings</a:t>
            </a:r>
            <a:r>
              <a:rPr lang="en-US" sz="6000" dirty="0"/>
              <a:t>, and is there an optimal runtime associated with higher-rated movies?</a:t>
            </a:r>
            <a:endParaRPr lang="en-US" sz="6000" i="1" dirty="0"/>
          </a:p>
        </p:txBody>
      </p:sp>
      <p:grpSp>
        <p:nvGrpSpPr>
          <p:cNvPr id="5" name="object 11">
            <a:extLst>
              <a:ext uri="{FF2B5EF4-FFF2-40B4-BE49-F238E27FC236}">
                <a16:creationId xmlns:a16="http://schemas.microsoft.com/office/drawing/2014/main" id="{2787C0CF-E70C-4F60-8749-C4189F66B207}"/>
              </a:ext>
            </a:extLst>
          </p:cNvPr>
          <p:cNvGrpSpPr/>
          <p:nvPr/>
        </p:nvGrpSpPr>
        <p:grpSpPr>
          <a:xfrm>
            <a:off x="0" y="1"/>
            <a:ext cx="14536419" cy="948690"/>
            <a:chOff x="0" y="1"/>
            <a:chExt cx="14536419" cy="948690"/>
          </a:xfrm>
        </p:grpSpPr>
        <p:sp>
          <p:nvSpPr>
            <p:cNvPr id="6" name="object 12">
              <a:extLst>
                <a:ext uri="{FF2B5EF4-FFF2-40B4-BE49-F238E27FC236}">
                  <a16:creationId xmlns:a16="http://schemas.microsoft.com/office/drawing/2014/main" id="{AC1F9826-EDA9-47E5-A9A4-5F1C94A17CA2}"/>
                </a:ext>
              </a:extLst>
            </p:cNvPr>
            <p:cNvSpPr/>
            <p:nvPr/>
          </p:nvSpPr>
          <p:spPr>
            <a:xfrm>
              <a:off x="0" y="12"/>
              <a:ext cx="14536419" cy="948690"/>
            </a:xfrm>
            <a:custGeom>
              <a:avLst/>
              <a:gdLst/>
              <a:ahLst/>
              <a:cxnLst/>
              <a:rect l="l" t="t" r="r" b="b"/>
              <a:pathLst>
                <a:path w="14536419" h="948690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13">
              <a:extLst>
                <a:ext uri="{FF2B5EF4-FFF2-40B4-BE49-F238E27FC236}">
                  <a16:creationId xmlns:a16="http://schemas.microsoft.com/office/drawing/2014/main" id="{0239DED7-9B99-47BC-AA01-5140EB74E33A}"/>
                </a:ext>
              </a:extLst>
            </p:cNvPr>
            <p:cNvSpPr/>
            <p:nvPr/>
          </p:nvSpPr>
          <p:spPr>
            <a:xfrm>
              <a:off x="0" y="1"/>
              <a:ext cx="8891905" cy="948690"/>
            </a:xfrm>
            <a:custGeom>
              <a:avLst/>
              <a:gdLst/>
              <a:ahLst/>
              <a:cxnLst/>
              <a:rect l="l" t="t" r="r" b="b"/>
              <a:pathLst>
                <a:path w="8891905" h="948690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4">
              <a:extLst>
                <a:ext uri="{FF2B5EF4-FFF2-40B4-BE49-F238E27FC236}">
                  <a16:creationId xmlns:a16="http://schemas.microsoft.com/office/drawing/2014/main" id="{AACB6093-45D7-40E2-8D6B-8918E47D7AE3}"/>
                </a:ext>
              </a:extLst>
            </p:cNvPr>
            <p:cNvSpPr/>
            <p:nvPr/>
          </p:nvSpPr>
          <p:spPr>
            <a:xfrm>
              <a:off x="0" y="1"/>
              <a:ext cx="7482205" cy="948690"/>
            </a:xfrm>
            <a:custGeom>
              <a:avLst/>
              <a:gdLst/>
              <a:ahLst/>
              <a:cxnLst/>
              <a:rect l="l" t="t" r="r" b="b"/>
              <a:pathLst>
                <a:path w="7482205" h="948690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7">
            <a:extLst>
              <a:ext uri="{FF2B5EF4-FFF2-40B4-BE49-F238E27FC236}">
                <a16:creationId xmlns:a16="http://schemas.microsoft.com/office/drawing/2014/main" id="{965F38A7-66B1-4EAC-83AC-9BEDBED5BEA1}"/>
              </a:ext>
            </a:extLst>
          </p:cNvPr>
          <p:cNvGrpSpPr/>
          <p:nvPr/>
        </p:nvGrpSpPr>
        <p:grpSpPr>
          <a:xfrm>
            <a:off x="817418" y="2120569"/>
            <a:ext cx="845819" cy="845819"/>
            <a:chOff x="1018832" y="2392782"/>
            <a:chExt cx="845819" cy="845819"/>
          </a:xfrm>
        </p:grpSpPr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037D949E-2948-40A4-8A10-BAEE272107DA}"/>
                </a:ext>
              </a:extLst>
            </p:cNvPr>
            <p:cNvSpPr/>
            <p:nvPr/>
          </p:nvSpPr>
          <p:spPr>
            <a:xfrm>
              <a:off x="1018832" y="2392789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3422751E-D343-4094-88DA-09580079C9FD}"/>
                </a:ext>
              </a:extLst>
            </p:cNvPr>
            <p:cNvSpPr/>
            <p:nvPr/>
          </p:nvSpPr>
          <p:spPr>
            <a:xfrm>
              <a:off x="1317063" y="2392782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01FA51A1-A6D2-4200-A8D2-A2611AC3D927}"/>
                </a:ext>
              </a:extLst>
            </p:cNvPr>
            <p:cNvSpPr/>
            <p:nvPr/>
          </p:nvSpPr>
          <p:spPr>
            <a:xfrm>
              <a:off x="1018832" y="2543479"/>
              <a:ext cx="845819" cy="695325"/>
            </a:xfrm>
            <a:custGeom>
              <a:avLst/>
              <a:gdLst/>
              <a:ahLst/>
              <a:cxnLst/>
              <a:rect l="l" t="t" r="r" b="b"/>
              <a:pathLst>
                <a:path w="845819" h="695325">
                  <a:moveTo>
                    <a:pt x="845540" y="518782"/>
                  </a:moveTo>
                  <a:lnTo>
                    <a:pt x="839533" y="473151"/>
                  </a:lnTo>
                  <a:lnTo>
                    <a:pt x="821918" y="430618"/>
                  </a:lnTo>
                  <a:lnTo>
                    <a:pt x="793889" y="394106"/>
                  </a:lnTo>
                  <a:lnTo>
                    <a:pt x="399783" y="0"/>
                  </a:lnTo>
                  <a:lnTo>
                    <a:pt x="150698" y="249085"/>
                  </a:lnTo>
                  <a:lnTo>
                    <a:pt x="173685" y="272084"/>
                  </a:lnTo>
                  <a:lnTo>
                    <a:pt x="51650" y="394119"/>
                  </a:lnTo>
                  <a:lnTo>
                    <a:pt x="23622" y="430631"/>
                  </a:lnTo>
                  <a:lnTo>
                    <a:pt x="6007" y="473163"/>
                  </a:lnTo>
                  <a:lnTo>
                    <a:pt x="0" y="518795"/>
                  </a:lnTo>
                  <a:lnTo>
                    <a:pt x="381" y="530339"/>
                  </a:lnTo>
                  <a:lnTo>
                    <a:pt x="9359" y="575487"/>
                  </a:lnTo>
                  <a:lnTo>
                    <a:pt x="29718" y="616762"/>
                  </a:lnTo>
                  <a:lnTo>
                    <a:pt x="59855" y="651154"/>
                  </a:lnTo>
                  <a:lnTo>
                    <a:pt x="98069" y="676668"/>
                  </a:lnTo>
                  <a:lnTo>
                    <a:pt x="141655" y="691464"/>
                  </a:lnTo>
                  <a:lnTo>
                    <a:pt x="176060" y="694855"/>
                  </a:lnTo>
                  <a:lnTo>
                    <a:pt x="187591" y="694474"/>
                  </a:lnTo>
                  <a:lnTo>
                    <a:pt x="232740" y="685495"/>
                  </a:lnTo>
                  <a:lnTo>
                    <a:pt x="274027" y="665124"/>
                  </a:lnTo>
                  <a:lnTo>
                    <a:pt x="422770" y="521169"/>
                  </a:lnTo>
                  <a:lnTo>
                    <a:pt x="544804" y="643191"/>
                  </a:lnTo>
                  <a:lnTo>
                    <a:pt x="581317" y="671220"/>
                  </a:lnTo>
                  <a:lnTo>
                    <a:pt x="623849" y="688835"/>
                  </a:lnTo>
                  <a:lnTo>
                    <a:pt x="669480" y="694842"/>
                  </a:lnTo>
                  <a:lnTo>
                    <a:pt x="681012" y="694461"/>
                  </a:lnTo>
                  <a:lnTo>
                    <a:pt x="726160" y="685482"/>
                  </a:lnTo>
                  <a:lnTo>
                    <a:pt x="767435" y="665124"/>
                  </a:lnTo>
                  <a:lnTo>
                    <a:pt x="801839" y="634987"/>
                  </a:lnTo>
                  <a:lnTo>
                    <a:pt x="827354" y="596773"/>
                  </a:lnTo>
                  <a:lnTo>
                    <a:pt x="842149" y="553186"/>
                  </a:lnTo>
                  <a:lnTo>
                    <a:pt x="845159" y="530326"/>
                  </a:lnTo>
                  <a:lnTo>
                    <a:pt x="845540" y="518782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87177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DAF2DD-6CC1-41C8-8986-609DEE5A0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647700"/>
            <a:ext cx="15414172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638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298FC-B2AA-47A1-802E-D87DF158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678" y="2020259"/>
            <a:ext cx="14818994" cy="1046440"/>
          </a:xfrm>
        </p:spPr>
        <p:txBody>
          <a:bodyPr/>
          <a:lstStyle/>
          <a:p>
            <a:r>
              <a:rPr lang="en-US" b="1" dirty="0"/>
              <a:t>Key Findings</a:t>
            </a:r>
            <a:endParaRPr lang="en-KE" b="1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00E1115-C1C5-4A40-80A3-4D9CDE2B115E}"/>
              </a:ext>
            </a:extLst>
          </p:cNvPr>
          <p:cNvSpPr txBox="1">
            <a:spLocks/>
          </p:cNvSpPr>
          <p:nvPr/>
        </p:nvSpPr>
        <p:spPr>
          <a:xfrm>
            <a:off x="1408575" y="3314700"/>
            <a:ext cx="16041225" cy="5909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E" altLang="en-K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movies released between </a:t>
            </a:r>
            <a:r>
              <a:rPr kumimoji="0" lang="en-KE" altLang="en-KE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2010 and 2019</a:t>
            </a:r>
            <a:r>
              <a:rPr kumimoji="0" lang="en-KE" altLang="en-K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have runtimes ranging from </a:t>
            </a:r>
            <a:r>
              <a:rPr kumimoji="0" lang="en-KE" altLang="en-KE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80 to 140 minutes</a:t>
            </a:r>
            <a:r>
              <a:rPr kumimoji="0" lang="en-KE" altLang="en-K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E" altLang="en-K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Audience ratings are concentrated between </a:t>
            </a:r>
            <a:r>
              <a:rPr kumimoji="0" lang="en-KE" altLang="en-KE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5.5 and 7.5</a:t>
            </a:r>
            <a:r>
              <a:rPr kumimoji="0" lang="en-KE" altLang="en-K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regardless of movie length.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E" altLang="en-K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regression line is </a:t>
            </a:r>
            <a:r>
              <a:rPr kumimoji="0" lang="en-KE" altLang="en-KE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nearly flat with a slight downward slope</a:t>
            </a:r>
            <a:r>
              <a:rPr kumimoji="0" lang="en-KE" altLang="en-K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</a:t>
            </a:r>
            <a:r>
              <a:rPr kumimoji="0" lang="en-KE" altLang="en-KE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little to no meaningful relationship</a:t>
            </a:r>
            <a:r>
              <a:rPr kumimoji="0" lang="en-KE" altLang="en-K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runtime and audience ratings.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E" altLang="en-K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highly rated and poorly rated movies occur across nearly all runtime lengths.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E" altLang="en-K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wide dispersion of data points suggests that </a:t>
            </a:r>
            <a:r>
              <a:rPr kumimoji="0" lang="en-KE" altLang="en-KE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movie runtime is not a strong predictor of audience ratings</a:t>
            </a:r>
            <a:r>
              <a:rPr kumimoji="0" lang="en-KE" altLang="en-K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E" altLang="en-K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factors—such as </a:t>
            </a:r>
            <a:r>
              <a:rPr kumimoji="0" lang="en-KE" altLang="en-KE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genre, storyline, cast, director, production quality, and audience preferences</a:t>
            </a:r>
            <a:r>
              <a:rPr kumimoji="0" lang="en-KE" altLang="en-K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—are likely to have a much greater influence on how audiences rate a movie.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KE" altLang="en-K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object 11">
            <a:extLst>
              <a:ext uri="{FF2B5EF4-FFF2-40B4-BE49-F238E27FC236}">
                <a16:creationId xmlns:a16="http://schemas.microsoft.com/office/drawing/2014/main" id="{2787C0CF-E70C-4F60-8749-C4189F66B207}"/>
              </a:ext>
            </a:extLst>
          </p:cNvPr>
          <p:cNvGrpSpPr/>
          <p:nvPr/>
        </p:nvGrpSpPr>
        <p:grpSpPr>
          <a:xfrm>
            <a:off x="0" y="1"/>
            <a:ext cx="14536419" cy="948690"/>
            <a:chOff x="0" y="1"/>
            <a:chExt cx="14536419" cy="948690"/>
          </a:xfrm>
        </p:grpSpPr>
        <p:sp>
          <p:nvSpPr>
            <p:cNvPr id="6" name="object 12">
              <a:extLst>
                <a:ext uri="{FF2B5EF4-FFF2-40B4-BE49-F238E27FC236}">
                  <a16:creationId xmlns:a16="http://schemas.microsoft.com/office/drawing/2014/main" id="{AC1F9826-EDA9-47E5-A9A4-5F1C94A17CA2}"/>
                </a:ext>
              </a:extLst>
            </p:cNvPr>
            <p:cNvSpPr/>
            <p:nvPr/>
          </p:nvSpPr>
          <p:spPr>
            <a:xfrm>
              <a:off x="0" y="12"/>
              <a:ext cx="14536419" cy="948690"/>
            </a:xfrm>
            <a:custGeom>
              <a:avLst/>
              <a:gdLst/>
              <a:ahLst/>
              <a:cxnLst/>
              <a:rect l="l" t="t" r="r" b="b"/>
              <a:pathLst>
                <a:path w="14536419" h="948690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13">
              <a:extLst>
                <a:ext uri="{FF2B5EF4-FFF2-40B4-BE49-F238E27FC236}">
                  <a16:creationId xmlns:a16="http://schemas.microsoft.com/office/drawing/2014/main" id="{0239DED7-9B99-47BC-AA01-5140EB74E33A}"/>
                </a:ext>
              </a:extLst>
            </p:cNvPr>
            <p:cNvSpPr/>
            <p:nvPr/>
          </p:nvSpPr>
          <p:spPr>
            <a:xfrm>
              <a:off x="0" y="1"/>
              <a:ext cx="8891905" cy="948690"/>
            </a:xfrm>
            <a:custGeom>
              <a:avLst/>
              <a:gdLst/>
              <a:ahLst/>
              <a:cxnLst/>
              <a:rect l="l" t="t" r="r" b="b"/>
              <a:pathLst>
                <a:path w="8891905" h="948690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4">
              <a:extLst>
                <a:ext uri="{FF2B5EF4-FFF2-40B4-BE49-F238E27FC236}">
                  <a16:creationId xmlns:a16="http://schemas.microsoft.com/office/drawing/2014/main" id="{AACB6093-45D7-40E2-8D6B-8918E47D7AE3}"/>
                </a:ext>
              </a:extLst>
            </p:cNvPr>
            <p:cNvSpPr/>
            <p:nvPr/>
          </p:nvSpPr>
          <p:spPr>
            <a:xfrm>
              <a:off x="0" y="1"/>
              <a:ext cx="7482205" cy="948690"/>
            </a:xfrm>
            <a:custGeom>
              <a:avLst/>
              <a:gdLst/>
              <a:ahLst/>
              <a:cxnLst/>
              <a:rect l="l" t="t" r="r" b="b"/>
              <a:pathLst>
                <a:path w="7482205" h="948690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7">
            <a:extLst>
              <a:ext uri="{FF2B5EF4-FFF2-40B4-BE49-F238E27FC236}">
                <a16:creationId xmlns:a16="http://schemas.microsoft.com/office/drawing/2014/main" id="{965F38A7-66B1-4EAC-83AC-9BEDBED5BEA1}"/>
              </a:ext>
            </a:extLst>
          </p:cNvPr>
          <p:cNvGrpSpPr/>
          <p:nvPr/>
        </p:nvGrpSpPr>
        <p:grpSpPr>
          <a:xfrm>
            <a:off x="817418" y="2120569"/>
            <a:ext cx="845819" cy="845819"/>
            <a:chOff x="1018832" y="2392782"/>
            <a:chExt cx="845819" cy="845819"/>
          </a:xfrm>
        </p:grpSpPr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037D949E-2948-40A4-8A10-BAEE272107DA}"/>
                </a:ext>
              </a:extLst>
            </p:cNvPr>
            <p:cNvSpPr/>
            <p:nvPr/>
          </p:nvSpPr>
          <p:spPr>
            <a:xfrm>
              <a:off x="1018832" y="2392789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3422751E-D343-4094-88DA-09580079C9FD}"/>
                </a:ext>
              </a:extLst>
            </p:cNvPr>
            <p:cNvSpPr/>
            <p:nvPr/>
          </p:nvSpPr>
          <p:spPr>
            <a:xfrm>
              <a:off x="1317063" y="2392782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01FA51A1-A6D2-4200-A8D2-A2611AC3D927}"/>
                </a:ext>
              </a:extLst>
            </p:cNvPr>
            <p:cNvSpPr/>
            <p:nvPr/>
          </p:nvSpPr>
          <p:spPr>
            <a:xfrm>
              <a:off x="1018832" y="2543479"/>
              <a:ext cx="845819" cy="695325"/>
            </a:xfrm>
            <a:custGeom>
              <a:avLst/>
              <a:gdLst/>
              <a:ahLst/>
              <a:cxnLst/>
              <a:rect l="l" t="t" r="r" b="b"/>
              <a:pathLst>
                <a:path w="845819" h="695325">
                  <a:moveTo>
                    <a:pt x="845540" y="518782"/>
                  </a:moveTo>
                  <a:lnTo>
                    <a:pt x="839533" y="473151"/>
                  </a:lnTo>
                  <a:lnTo>
                    <a:pt x="821918" y="430618"/>
                  </a:lnTo>
                  <a:lnTo>
                    <a:pt x="793889" y="394106"/>
                  </a:lnTo>
                  <a:lnTo>
                    <a:pt x="399783" y="0"/>
                  </a:lnTo>
                  <a:lnTo>
                    <a:pt x="150698" y="249085"/>
                  </a:lnTo>
                  <a:lnTo>
                    <a:pt x="173685" y="272084"/>
                  </a:lnTo>
                  <a:lnTo>
                    <a:pt x="51650" y="394119"/>
                  </a:lnTo>
                  <a:lnTo>
                    <a:pt x="23622" y="430631"/>
                  </a:lnTo>
                  <a:lnTo>
                    <a:pt x="6007" y="473163"/>
                  </a:lnTo>
                  <a:lnTo>
                    <a:pt x="0" y="518795"/>
                  </a:lnTo>
                  <a:lnTo>
                    <a:pt x="381" y="530339"/>
                  </a:lnTo>
                  <a:lnTo>
                    <a:pt x="9359" y="575487"/>
                  </a:lnTo>
                  <a:lnTo>
                    <a:pt x="29718" y="616762"/>
                  </a:lnTo>
                  <a:lnTo>
                    <a:pt x="59855" y="651154"/>
                  </a:lnTo>
                  <a:lnTo>
                    <a:pt x="98069" y="676668"/>
                  </a:lnTo>
                  <a:lnTo>
                    <a:pt x="141655" y="691464"/>
                  </a:lnTo>
                  <a:lnTo>
                    <a:pt x="176060" y="694855"/>
                  </a:lnTo>
                  <a:lnTo>
                    <a:pt x="187591" y="694474"/>
                  </a:lnTo>
                  <a:lnTo>
                    <a:pt x="232740" y="685495"/>
                  </a:lnTo>
                  <a:lnTo>
                    <a:pt x="274027" y="665124"/>
                  </a:lnTo>
                  <a:lnTo>
                    <a:pt x="422770" y="521169"/>
                  </a:lnTo>
                  <a:lnTo>
                    <a:pt x="544804" y="643191"/>
                  </a:lnTo>
                  <a:lnTo>
                    <a:pt x="581317" y="671220"/>
                  </a:lnTo>
                  <a:lnTo>
                    <a:pt x="623849" y="688835"/>
                  </a:lnTo>
                  <a:lnTo>
                    <a:pt x="669480" y="694842"/>
                  </a:lnTo>
                  <a:lnTo>
                    <a:pt x="681012" y="694461"/>
                  </a:lnTo>
                  <a:lnTo>
                    <a:pt x="726160" y="685482"/>
                  </a:lnTo>
                  <a:lnTo>
                    <a:pt x="767435" y="665124"/>
                  </a:lnTo>
                  <a:lnTo>
                    <a:pt x="801839" y="634987"/>
                  </a:lnTo>
                  <a:lnTo>
                    <a:pt x="827354" y="596773"/>
                  </a:lnTo>
                  <a:lnTo>
                    <a:pt x="842149" y="553186"/>
                  </a:lnTo>
                  <a:lnTo>
                    <a:pt x="845159" y="530326"/>
                  </a:lnTo>
                  <a:lnTo>
                    <a:pt x="845540" y="518782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79904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298FC-B2AA-47A1-802E-D87DF158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678" y="2020259"/>
            <a:ext cx="14818994" cy="1107996"/>
          </a:xfrm>
        </p:spPr>
        <p:txBody>
          <a:bodyPr/>
          <a:lstStyle/>
          <a:p>
            <a:r>
              <a:rPr lang="en-US" sz="7200" b="1" dirty="0"/>
              <a:t>Business Insight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00E1115-C1C5-4A40-80A3-4D9CDE2B115E}"/>
              </a:ext>
            </a:extLst>
          </p:cNvPr>
          <p:cNvSpPr txBox="1">
            <a:spLocks/>
          </p:cNvSpPr>
          <p:nvPr/>
        </p:nvSpPr>
        <p:spPr>
          <a:xfrm>
            <a:off x="1977434" y="3834759"/>
            <a:ext cx="14024566" cy="43088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This exploratory analysis found little evidence that movie runtime has a meaningful influence on audience ratings.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Although moderately </a:t>
            </a:r>
            <a:r>
              <a:rPr lang="en-US" sz="4000" b="1" dirty="0"/>
              <a:t>longer movies are common</a:t>
            </a:r>
            <a:r>
              <a:rPr lang="en-US" sz="4000" dirty="0"/>
              <a:t>, the wide variation in ratings suggests that other factors—such as </a:t>
            </a:r>
            <a:r>
              <a:rPr lang="en-US" sz="4000" b="1" dirty="0"/>
              <a:t>genre</a:t>
            </a:r>
            <a:r>
              <a:rPr lang="en-US" sz="4000" dirty="0"/>
              <a:t>, </a:t>
            </a:r>
            <a:r>
              <a:rPr lang="en-US" sz="4000" b="1" dirty="0"/>
              <a:t>storytelling</a:t>
            </a:r>
            <a:r>
              <a:rPr lang="en-US" sz="4000" dirty="0"/>
              <a:t>, </a:t>
            </a:r>
            <a:r>
              <a:rPr lang="en-US" sz="4000" b="1" dirty="0"/>
              <a:t>cast</a:t>
            </a:r>
            <a:r>
              <a:rPr lang="en-US" sz="4000" dirty="0"/>
              <a:t>, and </a:t>
            </a:r>
            <a:r>
              <a:rPr lang="en-US" sz="4000" b="1" dirty="0"/>
              <a:t>production quality</a:t>
            </a:r>
            <a:r>
              <a:rPr lang="en-US" sz="4000" dirty="0"/>
              <a:t>—are more influential.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Future analyses should incorporate these variables to better understand audience preferences.</a:t>
            </a:r>
          </a:p>
        </p:txBody>
      </p:sp>
      <p:grpSp>
        <p:nvGrpSpPr>
          <p:cNvPr id="5" name="object 11">
            <a:extLst>
              <a:ext uri="{FF2B5EF4-FFF2-40B4-BE49-F238E27FC236}">
                <a16:creationId xmlns:a16="http://schemas.microsoft.com/office/drawing/2014/main" id="{2787C0CF-E70C-4F60-8749-C4189F66B207}"/>
              </a:ext>
            </a:extLst>
          </p:cNvPr>
          <p:cNvGrpSpPr/>
          <p:nvPr/>
        </p:nvGrpSpPr>
        <p:grpSpPr>
          <a:xfrm>
            <a:off x="0" y="1"/>
            <a:ext cx="14536419" cy="948690"/>
            <a:chOff x="0" y="1"/>
            <a:chExt cx="14536419" cy="948690"/>
          </a:xfrm>
        </p:grpSpPr>
        <p:sp>
          <p:nvSpPr>
            <p:cNvPr id="6" name="object 12">
              <a:extLst>
                <a:ext uri="{FF2B5EF4-FFF2-40B4-BE49-F238E27FC236}">
                  <a16:creationId xmlns:a16="http://schemas.microsoft.com/office/drawing/2014/main" id="{AC1F9826-EDA9-47E5-A9A4-5F1C94A17CA2}"/>
                </a:ext>
              </a:extLst>
            </p:cNvPr>
            <p:cNvSpPr/>
            <p:nvPr/>
          </p:nvSpPr>
          <p:spPr>
            <a:xfrm>
              <a:off x="0" y="12"/>
              <a:ext cx="14536419" cy="948690"/>
            </a:xfrm>
            <a:custGeom>
              <a:avLst/>
              <a:gdLst/>
              <a:ahLst/>
              <a:cxnLst/>
              <a:rect l="l" t="t" r="r" b="b"/>
              <a:pathLst>
                <a:path w="14536419" h="948690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13">
              <a:extLst>
                <a:ext uri="{FF2B5EF4-FFF2-40B4-BE49-F238E27FC236}">
                  <a16:creationId xmlns:a16="http://schemas.microsoft.com/office/drawing/2014/main" id="{0239DED7-9B99-47BC-AA01-5140EB74E33A}"/>
                </a:ext>
              </a:extLst>
            </p:cNvPr>
            <p:cNvSpPr/>
            <p:nvPr/>
          </p:nvSpPr>
          <p:spPr>
            <a:xfrm>
              <a:off x="0" y="1"/>
              <a:ext cx="8891905" cy="948690"/>
            </a:xfrm>
            <a:custGeom>
              <a:avLst/>
              <a:gdLst/>
              <a:ahLst/>
              <a:cxnLst/>
              <a:rect l="l" t="t" r="r" b="b"/>
              <a:pathLst>
                <a:path w="8891905" h="948690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4">
              <a:extLst>
                <a:ext uri="{FF2B5EF4-FFF2-40B4-BE49-F238E27FC236}">
                  <a16:creationId xmlns:a16="http://schemas.microsoft.com/office/drawing/2014/main" id="{AACB6093-45D7-40E2-8D6B-8918E47D7AE3}"/>
                </a:ext>
              </a:extLst>
            </p:cNvPr>
            <p:cNvSpPr/>
            <p:nvPr/>
          </p:nvSpPr>
          <p:spPr>
            <a:xfrm>
              <a:off x="0" y="1"/>
              <a:ext cx="7482205" cy="948690"/>
            </a:xfrm>
            <a:custGeom>
              <a:avLst/>
              <a:gdLst/>
              <a:ahLst/>
              <a:cxnLst/>
              <a:rect l="l" t="t" r="r" b="b"/>
              <a:pathLst>
                <a:path w="7482205" h="948690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7">
            <a:extLst>
              <a:ext uri="{FF2B5EF4-FFF2-40B4-BE49-F238E27FC236}">
                <a16:creationId xmlns:a16="http://schemas.microsoft.com/office/drawing/2014/main" id="{965F38A7-66B1-4EAC-83AC-9BEDBED5BEA1}"/>
              </a:ext>
            </a:extLst>
          </p:cNvPr>
          <p:cNvGrpSpPr/>
          <p:nvPr/>
        </p:nvGrpSpPr>
        <p:grpSpPr>
          <a:xfrm>
            <a:off x="817418" y="2120569"/>
            <a:ext cx="845819" cy="845819"/>
            <a:chOff x="1018832" y="2392782"/>
            <a:chExt cx="845819" cy="845819"/>
          </a:xfrm>
        </p:grpSpPr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037D949E-2948-40A4-8A10-BAEE272107DA}"/>
                </a:ext>
              </a:extLst>
            </p:cNvPr>
            <p:cNvSpPr/>
            <p:nvPr/>
          </p:nvSpPr>
          <p:spPr>
            <a:xfrm>
              <a:off x="1018832" y="2392789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3422751E-D343-4094-88DA-09580079C9FD}"/>
                </a:ext>
              </a:extLst>
            </p:cNvPr>
            <p:cNvSpPr/>
            <p:nvPr/>
          </p:nvSpPr>
          <p:spPr>
            <a:xfrm>
              <a:off x="1317063" y="2392782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01FA51A1-A6D2-4200-A8D2-A2611AC3D927}"/>
                </a:ext>
              </a:extLst>
            </p:cNvPr>
            <p:cNvSpPr/>
            <p:nvPr/>
          </p:nvSpPr>
          <p:spPr>
            <a:xfrm>
              <a:off x="1018832" y="2543479"/>
              <a:ext cx="845819" cy="695325"/>
            </a:xfrm>
            <a:custGeom>
              <a:avLst/>
              <a:gdLst/>
              <a:ahLst/>
              <a:cxnLst/>
              <a:rect l="l" t="t" r="r" b="b"/>
              <a:pathLst>
                <a:path w="845819" h="695325">
                  <a:moveTo>
                    <a:pt x="845540" y="518782"/>
                  </a:moveTo>
                  <a:lnTo>
                    <a:pt x="839533" y="473151"/>
                  </a:lnTo>
                  <a:lnTo>
                    <a:pt x="821918" y="430618"/>
                  </a:lnTo>
                  <a:lnTo>
                    <a:pt x="793889" y="394106"/>
                  </a:lnTo>
                  <a:lnTo>
                    <a:pt x="399783" y="0"/>
                  </a:lnTo>
                  <a:lnTo>
                    <a:pt x="150698" y="249085"/>
                  </a:lnTo>
                  <a:lnTo>
                    <a:pt x="173685" y="272084"/>
                  </a:lnTo>
                  <a:lnTo>
                    <a:pt x="51650" y="394119"/>
                  </a:lnTo>
                  <a:lnTo>
                    <a:pt x="23622" y="430631"/>
                  </a:lnTo>
                  <a:lnTo>
                    <a:pt x="6007" y="473163"/>
                  </a:lnTo>
                  <a:lnTo>
                    <a:pt x="0" y="518795"/>
                  </a:lnTo>
                  <a:lnTo>
                    <a:pt x="381" y="530339"/>
                  </a:lnTo>
                  <a:lnTo>
                    <a:pt x="9359" y="575487"/>
                  </a:lnTo>
                  <a:lnTo>
                    <a:pt x="29718" y="616762"/>
                  </a:lnTo>
                  <a:lnTo>
                    <a:pt x="59855" y="651154"/>
                  </a:lnTo>
                  <a:lnTo>
                    <a:pt x="98069" y="676668"/>
                  </a:lnTo>
                  <a:lnTo>
                    <a:pt x="141655" y="691464"/>
                  </a:lnTo>
                  <a:lnTo>
                    <a:pt x="176060" y="694855"/>
                  </a:lnTo>
                  <a:lnTo>
                    <a:pt x="187591" y="694474"/>
                  </a:lnTo>
                  <a:lnTo>
                    <a:pt x="232740" y="685495"/>
                  </a:lnTo>
                  <a:lnTo>
                    <a:pt x="274027" y="665124"/>
                  </a:lnTo>
                  <a:lnTo>
                    <a:pt x="422770" y="521169"/>
                  </a:lnTo>
                  <a:lnTo>
                    <a:pt x="544804" y="643191"/>
                  </a:lnTo>
                  <a:lnTo>
                    <a:pt x="581317" y="671220"/>
                  </a:lnTo>
                  <a:lnTo>
                    <a:pt x="623849" y="688835"/>
                  </a:lnTo>
                  <a:lnTo>
                    <a:pt x="669480" y="694842"/>
                  </a:lnTo>
                  <a:lnTo>
                    <a:pt x="681012" y="694461"/>
                  </a:lnTo>
                  <a:lnTo>
                    <a:pt x="726160" y="685482"/>
                  </a:lnTo>
                  <a:lnTo>
                    <a:pt x="767435" y="665124"/>
                  </a:lnTo>
                  <a:lnTo>
                    <a:pt x="801839" y="634987"/>
                  </a:lnTo>
                  <a:lnTo>
                    <a:pt x="827354" y="596773"/>
                  </a:lnTo>
                  <a:lnTo>
                    <a:pt x="842149" y="553186"/>
                  </a:lnTo>
                  <a:lnTo>
                    <a:pt x="845159" y="530326"/>
                  </a:lnTo>
                  <a:lnTo>
                    <a:pt x="845540" y="518782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21278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78000" y="0"/>
            <a:ext cx="3810000" cy="3810000"/>
          </a:xfrm>
          <a:custGeom>
            <a:avLst/>
            <a:gdLst/>
            <a:ahLst/>
            <a:cxnLst/>
            <a:rect l="l" t="t" r="r" b="b"/>
            <a:pathLst>
              <a:path w="3810000" h="3810000">
                <a:moveTo>
                  <a:pt x="3810000" y="0"/>
                </a:moveTo>
                <a:lnTo>
                  <a:pt x="256738" y="0"/>
                </a:lnTo>
                <a:lnTo>
                  <a:pt x="251384" y="11156"/>
                </a:lnTo>
                <a:lnTo>
                  <a:pt x="232375" y="52577"/>
                </a:lnTo>
                <a:lnTo>
                  <a:pt x="214056" y="94374"/>
                </a:lnTo>
                <a:lnTo>
                  <a:pt x="196435" y="136542"/>
                </a:lnTo>
                <a:lnTo>
                  <a:pt x="179519" y="179071"/>
                </a:lnTo>
                <a:lnTo>
                  <a:pt x="163314" y="221956"/>
                </a:lnTo>
                <a:lnTo>
                  <a:pt x="147830" y="265189"/>
                </a:lnTo>
                <a:lnTo>
                  <a:pt x="133072" y="308762"/>
                </a:lnTo>
                <a:lnTo>
                  <a:pt x="119047" y="352668"/>
                </a:lnTo>
                <a:lnTo>
                  <a:pt x="105765" y="396900"/>
                </a:lnTo>
                <a:lnTo>
                  <a:pt x="93230" y="441451"/>
                </a:lnTo>
                <a:lnTo>
                  <a:pt x="81452" y="486314"/>
                </a:lnTo>
                <a:lnTo>
                  <a:pt x="70437" y="531480"/>
                </a:lnTo>
                <a:lnTo>
                  <a:pt x="60192" y="576943"/>
                </a:lnTo>
                <a:lnTo>
                  <a:pt x="50725" y="622696"/>
                </a:lnTo>
                <a:lnTo>
                  <a:pt x="42043" y="668731"/>
                </a:lnTo>
                <a:lnTo>
                  <a:pt x="34153" y="715041"/>
                </a:lnTo>
                <a:lnTo>
                  <a:pt x="27063" y="761618"/>
                </a:lnTo>
                <a:lnTo>
                  <a:pt x="20779" y="808456"/>
                </a:lnTo>
                <a:lnTo>
                  <a:pt x="15310" y="855547"/>
                </a:lnTo>
                <a:lnTo>
                  <a:pt x="10662" y="902884"/>
                </a:lnTo>
                <a:lnTo>
                  <a:pt x="6843" y="950459"/>
                </a:lnTo>
                <a:lnTo>
                  <a:pt x="3860" y="998266"/>
                </a:lnTo>
                <a:lnTo>
                  <a:pt x="1720" y="1046296"/>
                </a:lnTo>
                <a:lnTo>
                  <a:pt x="431" y="1094543"/>
                </a:lnTo>
                <a:lnTo>
                  <a:pt x="0" y="1143000"/>
                </a:lnTo>
                <a:lnTo>
                  <a:pt x="431" y="1191456"/>
                </a:lnTo>
                <a:lnTo>
                  <a:pt x="1720" y="1239703"/>
                </a:lnTo>
                <a:lnTo>
                  <a:pt x="3860" y="1287733"/>
                </a:lnTo>
                <a:lnTo>
                  <a:pt x="6843" y="1335540"/>
                </a:lnTo>
                <a:lnTo>
                  <a:pt x="10662" y="1383115"/>
                </a:lnTo>
                <a:lnTo>
                  <a:pt x="15310" y="1430452"/>
                </a:lnTo>
                <a:lnTo>
                  <a:pt x="20779" y="1477543"/>
                </a:lnTo>
                <a:lnTo>
                  <a:pt x="27063" y="1524381"/>
                </a:lnTo>
                <a:lnTo>
                  <a:pt x="34153" y="1570958"/>
                </a:lnTo>
                <a:lnTo>
                  <a:pt x="42043" y="1617268"/>
                </a:lnTo>
                <a:lnTo>
                  <a:pt x="50725" y="1663303"/>
                </a:lnTo>
                <a:lnTo>
                  <a:pt x="60192" y="1709056"/>
                </a:lnTo>
                <a:lnTo>
                  <a:pt x="70437" y="1754519"/>
                </a:lnTo>
                <a:lnTo>
                  <a:pt x="81452" y="1799685"/>
                </a:lnTo>
                <a:lnTo>
                  <a:pt x="93230" y="1844548"/>
                </a:lnTo>
                <a:lnTo>
                  <a:pt x="105765" y="1889099"/>
                </a:lnTo>
                <a:lnTo>
                  <a:pt x="119047" y="1933331"/>
                </a:lnTo>
                <a:lnTo>
                  <a:pt x="133072" y="1977237"/>
                </a:lnTo>
                <a:lnTo>
                  <a:pt x="147830" y="2020810"/>
                </a:lnTo>
                <a:lnTo>
                  <a:pt x="163314" y="2064043"/>
                </a:lnTo>
                <a:lnTo>
                  <a:pt x="179519" y="2106928"/>
                </a:lnTo>
                <a:lnTo>
                  <a:pt x="196435" y="2149457"/>
                </a:lnTo>
                <a:lnTo>
                  <a:pt x="214056" y="2191625"/>
                </a:lnTo>
                <a:lnTo>
                  <a:pt x="232375" y="2233422"/>
                </a:lnTo>
                <a:lnTo>
                  <a:pt x="251384" y="2274843"/>
                </a:lnTo>
                <a:lnTo>
                  <a:pt x="271076" y="2315880"/>
                </a:lnTo>
                <a:lnTo>
                  <a:pt x="291444" y="2356525"/>
                </a:lnTo>
                <a:lnTo>
                  <a:pt x="312480" y="2396771"/>
                </a:lnTo>
                <a:lnTo>
                  <a:pt x="334177" y="2436611"/>
                </a:lnTo>
                <a:lnTo>
                  <a:pt x="356528" y="2476038"/>
                </a:lnTo>
                <a:lnTo>
                  <a:pt x="379526" y="2515044"/>
                </a:lnTo>
                <a:lnTo>
                  <a:pt x="403163" y="2553622"/>
                </a:lnTo>
                <a:lnTo>
                  <a:pt x="427432" y="2591764"/>
                </a:lnTo>
                <a:lnTo>
                  <a:pt x="452325" y="2629465"/>
                </a:lnTo>
                <a:lnTo>
                  <a:pt x="477836" y="2666715"/>
                </a:lnTo>
                <a:lnTo>
                  <a:pt x="503957" y="2703508"/>
                </a:lnTo>
                <a:lnTo>
                  <a:pt x="530681" y="2739837"/>
                </a:lnTo>
                <a:lnTo>
                  <a:pt x="558001" y="2775695"/>
                </a:lnTo>
                <a:lnTo>
                  <a:pt x="585909" y="2811073"/>
                </a:lnTo>
                <a:lnTo>
                  <a:pt x="614397" y="2845965"/>
                </a:lnTo>
                <a:lnTo>
                  <a:pt x="643460" y="2880364"/>
                </a:lnTo>
                <a:lnTo>
                  <a:pt x="673089" y="2914261"/>
                </a:lnTo>
                <a:lnTo>
                  <a:pt x="703277" y="2947651"/>
                </a:lnTo>
                <a:lnTo>
                  <a:pt x="734016" y="2980525"/>
                </a:lnTo>
                <a:lnTo>
                  <a:pt x="765301" y="3012877"/>
                </a:lnTo>
                <a:lnTo>
                  <a:pt x="797122" y="3044698"/>
                </a:lnTo>
                <a:lnTo>
                  <a:pt x="829474" y="3075983"/>
                </a:lnTo>
                <a:lnTo>
                  <a:pt x="862348" y="3106722"/>
                </a:lnTo>
                <a:lnTo>
                  <a:pt x="895738" y="3136910"/>
                </a:lnTo>
                <a:lnTo>
                  <a:pt x="929635" y="3166539"/>
                </a:lnTo>
                <a:lnTo>
                  <a:pt x="964034" y="3195602"/>
                </a:lnTo>
                <a:lnTo>
                  <a:pt x="998926" y="3224090"/>
                </a:lnTo>
                <a:lnTo>
                  <a:pt x="1034304" y="3251998"/>
                </a:lnTo>
                <a:lnTo>
                  <a:pt x="1070162" y="3279318"/>
                </a:lnTo>
                <a:lnTo>
                  <a:pt x="1106491" y="3306042"/>
                </a:lnTo>
                <a:lnTo>
                  <a:pt x="1143284" y="3332163"/>
                </a:lnTo>
                <a:lnTo>
                  <a:pt x="1180534" y="3357674"/>
                </a:lnTo>
                <a:lnTo>
                  <a:pt x="1218235" y="3382567"/>
                </a:lnTo>
                <a:lnTo>
                  <a:pt x="1256377" y="3406836"/>
                </a:lnTo>
                <a:lnTo>
                  <a:pt x="1294955" y="3430473"/>
                </a:lnTo>
                <a:lnTo>
                  <a:pt x="1333961" y="3453471"/>
                </a:lnTo>
                <a:lnTo>
                  <a:pt x="1373388" y="3475822"/>
                </a:lnTo>
                <a:lnTo>
                  <a:pt x="1413228" y="3497519"/>
                </a:lnTo>
                <a:lnTo>
                  <a:pt x="1453474" y="3518555"/>
                </a:lnTo>
                <a:lnTo>
                  <a:pt x="1494119" y="3538923"/>
                </a:lnTo>
                <a:lnTo>
                  <a:pt x="1535156" y="3558615"/>
                </a:lnTo>
                <a:lnTo>
                  <a:pt x="1576577" y="3577624"/>
                </a:lnTo>
                <a:lnTo>
                  <a:pt x="1618374" y="3595943"/>
                </a:lnTo>
                <a:lnTo>
                  <a:pt x="1660542" y="3613564"/>
                </a:lnTo>
                <a:lnTo>
                  <a:pt x="1703071" y="3630480"/>
                </a:lnTo>
                <a:lnTo>
                  <a:pt x="1745956" y="3646685"/>
                </a:lnTo>
                <a:lnTo>
                  <a:pt x="1789189" y="3662169"/>
                </a:lnTo>
                <a:lnTo>
                  <a:pt x="1832762" y="3676927"/>
                </a:lnTo>
                <a:lnTo>
                  <a:pt x="1876668" y="3690952"/>
                </a:lnTo>
                <a:lnTo>
                  <a:pt x="1920900" y="3704234"/>
                </a:lnTo>
                <a:lnTo>
                  <a:pt x="1965451" y="3716769"/>
                </a:lnTo>
                <a:lnTo>
                  <a:pt x="2010314" y="3728547"/>
                </a:lnTo>
                <a:lnTo>
                  <a:pt x="2055480" y="3739562"/>
                </a:lnTo>
                <a:lnTo>
                  <a:pt x="2100943" y="3749807"/>
                </a:lnTo>
                <a:lnTo>
                  <a:pt x="2146696" y="3759274"/>
                </a:lnTo>
                <a:lnTo>
                  <a:pt x="2192731" y="3767956"/>
                </a:lnTo>
                <a:lnTo>
                  <a:pt x="2239041" y="3775846"/>
                </a:lnTo>
                <a:lnTo>
                  <a:pt x="2285618" y="3782936"/>
                </a:lnTo>
                <a:lnTo>
                  <a:pt x="2332456" y="3789220"/>
                </a:lnTo>
                <a:lnTo>
                  <a:pt x="2379547" y="3794689"/>
                </a:lnTo>
                <a:lnTo>
                  <a:pt x="2426884" y="3799337"/>
                </a:lnTo>
                <a:lnTo>
                  <a:pt x="2474459" y="3803156"/>
                </a:lnTo>
                <a:lnTo>
                  <a:pt x="2522266" y="3806139"/>
                </a:lnTo>
                <a:lnTo>
                  <a:pt x="2570296" y="3808279"/>
                </a:lnTo>
                <a:lnTo>
                  <a:pt x="2618543" y="3809568"/>
                </a:lnTo>
                <a:lnTo>
                  <a:pt x="2667000" y="3810000"/>
                </a:lnTo>
                <a:lnTo>
                  <a:pt x="2715456" y="3809568"/>
                </a:lnTo>
                <a:lnTo>
                  <a:pt x="2763703" y="3808279"/>
                </a:lnTo>
                <a:lnTo>
                  <a:pt x="2811733" y="3806139"/>
                </a:lnTo>
                <a:lnTo>
                  <a:pt x="2859540" y="3803156"/>
                </a:lnTo>
                <a:lnTo>
                  <a:pt x="2907115" y="3799337"/>
                </a:lnTo>
                <a:lnTo>
                  <a:pt x="2954452" y="3794689"/>
                </a:lnTo>
                <a:lnTo>
                  <a:pt x="3001543" y="3789220"/>
                </a:lnTo>
                <a:lnTo>
                  <a:pt x="3048381" y="3782936"/>
                </a:lnTo>
                <a:lnTo>
                  <a:pt x="3094958" y="3775846"/>
                </a:lnTo>
                <a:lnTo>
                  <a:pt x="3141268" y="3767956"/>
                </a:lnTo>
                <a:lnTo>
                  <a:pt x="3187303" y="3759274"/>
                </a:lnTo>
                <a:lnTo>
                  <a:pt x="3233056" y="3749807"/>
                </a:lnTo>
                <a:lnTo>
                  <a:pt x="3278519" y="3739562"/>
                </a:lnTo>
                <a:lnTo>
                  <a:pt x="3323685" y="3728547"/>
                </a:lnTo>
                <a:lnTo>
                  <a:pt x="3368548" y="3716769"/>
                </a:lnTo>
                <a:lnTo>
                  <a:pt x="3413099" y="3704234"/>
                </a:lnTo>
                <a:lnTo>
                  <a:pt x="3457331" y="3690952"/>
                </a:lnTo>
                <a:lnTo>
                  <a:pt x="3501237" y="3676927"/>
                </a:lnTo>
                <a:lnTo>
                  <a:pt x="3544810" y="3662169"/>
                </a:lnTo>
                <a:lnTo>
                  <a:pt x="3588043" y="3646685"/>
                </a:lnTo>
                <a:lnTo>
                  <a:pt x="3630928" y="3630480"/>
                </a:lnTo>
                <a:lnTo>
                  <a:pt x="3673457" y="3613564"/>
                </a:lnTo>
                <a:lnTo>
                  <a:pt x="3715625" y="3595943"/>
                </a:lnTo>
                <a:lnTo>
                  <a:pt x="3757422" y="3577624"/>
                </a:lnTo>
                <a:lnTo>
                  <a:pt x="3798843" y="3558615"/>
                </a:lnTo>
                <a:lnTo>
                  <a:pt x="3810000" y="3553261"/>
                </a:lnTo>
                <a:lnTo>
                  <a:pt x="3810000" y="0"/>
                </a:lnTo>
                <a:close/>
              </a:path>
            </a:pathLst>
          </a:custGeom>
          <a:solidFill>
            <a:srgbClr val="F1610F">
              <a:alpha val="6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7239000"/>
            <a:ext cx="3048000" cy="3048000"/>
          </a:xfrm>
          <a:custGeom>
            <a:avLst/>
            <a:gdLst/>
            <a:ahLst/>
            <a:cxnLst/>
            <a:rect l="l" t="t" r="r" b="b"/>
            <a:pathLst>
              <a:path w="3048000" h="3048000">
                <a:moveTo>
                  <a:pt x="952500" y="0"/>
                </a:moveTo>
                <a:lnTo>
                  <a:pt x="904407" y="541"/>
                </a:lnTo>
                <a:lnTo>
                  <a:pt x="856579" y="2156"/>
                </a:lnTo>
                <a:lnTo>
                  <a:pt x="809029" y="4834"/>
                </a:lnTo>
                <a:lnTo>
                  <a:pt x="761766" y="8563"/>
                </a:lnTo>
                <a:lnTo>
                  <a:pt x="714804" y="13332"/>
                </a:lnTo>
                <a:lnTo>
                  <a:pt x="668153" y="19129"/>
                </a:lnTo>
                <a:lnTo>
                  <a:pt x="621824" y="25942"/>
                </a:lnTo>
                <a:lnTo>
                  <a:pt x="575831" y="33761"/>
                </a:lnTo>
                <a:lnTo>
                  <a:pt x="530183" y="42573"/>
                </a:lnTo>
                <a:lnTo>
                  <a:pt x="484893" y="52366"/>
                </a:lnTo>
                <a:lnTo>
                  <a:pt x="439972" y="63130"/>
                </a:lnTo>
                <a:lnTo>
                  <a:pt x="395433" y="74853"/>
                </a:lnTo>
                <a:lnTo>
                  <a:pt x="351285" y="87523"/>
                </a:lnTo>
                <a:lnTo>
                  <a:pt x="307541" y="101128"/>
                </a:lnTo>
                <a:lnTo>
                  <a:pt x="264213" y="115657"/>
                </a:lnTo>
                <a:lnTo>
                  <a:pt x="221312" y="131099"/>
                </a:lnTo>
                <a:lnTo>
                  <a:pt x="178849" y="147442"/>
                </a:lnTo>
                <a:lnTo>
                  <a:pt x="136836" y="164674"/>
                </a:lnTo>
                <a:lnTo>
                  <a:pt x="95285" y="182784"/>
                </a:lnTo>
                <a:lnTo>
                  <a:pt x="54208" y="201760"/>
                </a:lnTo>
                <a:lnTo>
                  <a:pt x="13615" y="221591"/>
                </a:lnTo>
                <a:lnTo>
                  <a:pt x="0" y="228611"/>
                </a:lnTo>
                <a:lnTo>
                  <a:pt x="0" y="3048000"/>
                </a:lnTo>
                <a:lnTo>
                  <a:pt x="2819388" y="3048000"/>
                </a:lnTo>
                <a:lnTo>
                  <a:pt x="2826408" y="3034384"/>
                </a:lnTo>
                <a:lnTo>
                  <a:pt x="2846239" y="2993791"/>
                </a:lnTo>
                <a:lnTo>
                  <a:pt x="2865215" y="2952714"/>
                </a:lnTo>
                <a:lnTo>
                  <a:pt x="2883325" y="2911163"/>
                </a:lnTo>
                <a:lnTo>
                  <a:pt x="2900557" y="2869150"/>
                </a:lnTo>
                <a:lnTo>
                  <a:pt x="2916900" y="2826687"/>
                </a:lnTo>
                <a:lnTo>
                  <a:pt x="2932342" y="2783786"/>
                </a:lnTo>
                <a:lnTo>
                  <a:pt x="2946871" y="2740458"/>
                </a:lnTo>
                <a:lnTo>
                  <a:pt x="2960476" y="2696714"/>
                </a:lnTo>
                <a:lnTo>
                  <a:pt x="2973146" y="2652566"/>
                </a:lnTo>
                <a:lnTo>
                  <a:pt x="2984869" y="2608027"/>
                </a:lnTo>
                <a:lnTo>
                  <a:pt x="2995633" y="2563106"/>
                </a:lnTo>
                <a:lnTo>
                  <a:pt x="3005426" y="2517816"/>
                </a:lnTo>
                <a:lnTo>
                  <a:pt x="3014238" y="2472168"/>
                </a:lnTo>
                <a:lnTo>
                  <a:pt x="3022057" y="2426175"/>
                </a:lnTo>
                <a:lnTo>
                  <a:pt x="3028870" y="2379846"/>
                </a:lnTo>
                <a:lnTo>
                  <a:pt x="3034667" y="2333195"/>
                </a:lnTo>
                <a:lnTo>
                  <a:pt x="3039436" y="2286233"/>
                </a:lnTo>
                <a:lnTo>
                  <a:pt x="3043165" y="2238970"/>
                </a:lnTo>
                <a:lnTo>
                  <a:pt x="3045843" y="2191420"/>
                </a:lnTo>
                <a:lnTo>
                  <a:pt x="3047458" y="2143592"/>
                </a:lnTo>
                <a:lnTo>
                  <a:pt x="3048000" y="2095500"/>
                </a:lnTo>
                <a:lnTo>
                  <a:pt x="3047458" y="2047407"/>
                </a:lnTo>
                <a:lnTo>
                  <a:pt x="3045843" y="1999579"/>
                </a:lnTo>
                <a:lnTo>
                  <a:pt x="3043165" y="1952029"/>
                </a:lnTo>
                <a:lnTo>
                  <a:pt x="3039436" y="1904766"/>
                </a:lnTo>
                <a:lnTo>
                  <a:pt x="3034667" y="1857804"/>
                </a:lnTo>
                <a:lnTo>
                  <a:pt x="3028870" y="1811153"/>
                </a:lnTo>
                <a:lnTo>
                  <a:pt x="3022057" y="1764824"/>
                </a:lnTo>
                <a:lnTo>
                  <a:pt x="3014238" y="1718831"/>
                </a:lnTo>
                <a:lnTo>
                  <a:pt x="3005426" y="1673183"/>
                </a:lnTo>
                <a:lnTo>
                  <a:pt x="2995633" y="1627893"/>
                </a:lnTo>
                <a:lnTo>
                  <a:pt x="2984869" y="1582972"/>
                </a:lnTo>
                <a:lnTo>
                  <a:pt x="2973146" y="1538433"/>
                </a:lnTo>
                <a:lnTo>
                  <a:pt x="2960476" y="1494285"/>
                </a:lnTo>
                <a:lnTo>
                  <a:pt x="2946871" y="1450541"/>
                </a:lnTo>
                <a:lnTo>
                  <a:pt x="2932342" y="1407213"/>
                </a:lnTo>
                <a:lnTo>
                  <a:pt x="2916900" y="1364312"/>
                </a:lnTo>
                <a:lnTo>
                  <a:pt x="2900557" y="1321849"/>
                </a:lnTo>
                <a:lnTo>
                  <a:pt x="2883325" y="1279836"/>
                </a:lnTo>
                <a:lnTo>
                  <a:pt x="2865215" y="1238285"/>
                </a:lnTo>
                <a:lnTo>
                  <a:pt x="2846239" y="1197208"/>
                </a:lnTo>
                <a:lnTo>
                  <a:pt x="2826408" y="1156615"/>
                </a:lnTo>
                <a:lnTo>
                  <a:pt x="2805734" y="1116518"/>
                </a:lnTo>
                <a:lnTo>
                  <a:pt x="2784228" y="1076930"/>
                </a:lnTo>
                <a:lnTo>
                  <a:pt x="2761902" y="1037860"/>
                </a:lnTo>
                <a:lnTo>
                  <a:pt x="2738768" y="999322"/>
                </a:lnTo>
                <a:lnTo>
                  <a:pt x="2714837" y="961327"/>
                </a:lnTo>
                <a:lnTo>
                  <a:pt x="2690121" y="923885"/>
                </a:lnTo>
                <a:lnTo>
                  <a:pt x="2664631" y="887010"/>
                </a:lnTo>
                <a:lnTo>
                  <a:pt x="2638379" y="850711"/>
                </a:lnTo>
                <a:lnTo>
                  <a:pt x="2611376" y="815002"/>
                </a:lnTo>
                <a:lnTo>
                  <a:pt x="2583634" y="779893"/>
                </a:lnTo>
                <a:lnTo>
                  <a:pt x="2555164" y="745395"/>
                </a:lnTo>
                <a:lnTo>
                  <a:pt x="2525979" y="711522"/>
                </a:lnTo>
                <a:lnTo>
                  <a:pt x="2496089" y="678283"/>
                </a:lnTo>
                <a:lnTo>
                  <a:pt x="2465506" y="645691"/>
                </a:lnTo>
                <a:lnTo>
                  <a:pt x="2434242" y="613757"/>
                </a:lnTo>
                <a:lnTo>
                  <a:pt x="2402308" y="582493"/>
                </a:lnTo>
                <a:lnTo>
                  <a:pt x="2369716" y="551910"/>
                </a:lnTo>
                <a:lnTo>
                  <a:pt x="2336477" y="522020"/>
                </a:lnTo>
                <a:lnTo>
                  <a:pt x="2302604" y="492835"/>
                </a:lnTo>
                <a:lnTo>
                  <a:pt x="2268106" y="464365"/>
                </a:lnTo>
                <a:lnTo>
                  <a:pt x="2232997" y="436623"/>
                </a:lnTo>
                <a:lnTo>
                  <a:pt x="2197288" y="409620"/>
                </a:lnTo>
                <a:lnTo>
                  <a:pt x="2160989" y="383368"/>
                </a:lnTo>
                <a:lnTo>
                  <a:pt x="2124114" y="357878"/>
                </a:lnTo>
                <a:lnTo>
                  <a:pt x="2086672" y="333162"/>
                </a:lnTo>
                <a:lnTo>
                  <a:pt x="2048677" y="309231"/>
                </a:lnTo>
                <a:lnTo>
                  <a:pt x="2010139" y="286097"/>
                </a:lnTo>
                <a:lnTo>
                  <a:pt x="1971069" y="263771"/>
                </a:lnTo>
                <a:lnTo>
                  <a:pt x="1931481" y="242265"/>
                </a:lnTo>
                <a:lnTo>
                  <a:pt x="1891384" y="221591"/>
                </a:lnTo>
                <a:lnTo>
                  <a:pt x="1850791" y="201760"/>
                </a:lnTo>
                <a:lnTo>
                  <a:pt x="1809714" y="182784"/>
                </a:lnTo>
                <a:lnTo>
                  <a:pt x="1768163" y="164674"/>
                </a:lnTo>
                <a:lnTo>
                  <a:pt x="1726150" y="147442"/>
                </a:lnTo>
                <a:lnTo>
                  <a:pt x="1683687" y="131099"/>
                </a:lnTo>
                <a:lnTo>
                  <a:pt x="1640786" y="115657"/>
                </a:lnTo>
                <a:lnTo>
                  <a:pt x="1597458" y="101128"/>
                </a:lnTo>
                <a:lnTo>
                  <a:pt x="1553714" y="87523"/>
                </a:lnTo>
                <a:lnTo>
                  <a:pt x="1509566" y="74853"/>
                </a:lnTo>
                <a:lnTo>
                  <a:pt x="1465027" y="63130"/>
                </a:lnTo>
                <a:lnTo>
                  <a:pt x="1420106" y="52366"/>
                </a:lnTo>
                <a:lnTo>
                  <a:pt x="1374816" y="42573"/>
                </a:lnTo>
                <a:lnTo>
                  <a:pt x="1329168" y="33761"/>
                </a:lnTo>
                <a:lnTo>
                  <a:pt x="1283175" y="25942"/>
                </a:lnTo>
                <a:lnTo>
                  <a:pt x="1236846" y="19129"/>
                </a:lnTo>
                <a:lnTo>
                  <a:pt x="1190195" y="13332"/>
                </a:lnTo>
                <a:lnTo>
                  <a:pt x="1143233" y="8563"/>
                </a:lnTo>
                <a:lnTo>
                  <a:pt x="1095970" y="4834"/>
                </a:lnTo>
                <a:lnTo>
                  <a:pt x="1048420" y="2156"/>
                </a:lnTo>
                <a:lnTo>
                  <a:pt x="1000592" y="541"/>
                </a:lnTo>
                <a:lnTo>
                  <a:pt x="952500" y="0"/>
                </a:lnTo>
                <a:close/>
              </a:path>
            </a:pathLst>
          </a:custGeom>
          <a:solidFill>
            <a:srgbClr val="F1610F">
              <a:alpha val="6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27465" y="296242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>
                <a:moveTo>
                  <a:pt x="101600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F1610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6215" y="2867173"/>
            <a:ext cx="165100" cy="1651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8927465" y="2886223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6200" y="0"/>
                </a:lnTo>
              </a:path>
            </a:pathLst>
          </a:custGeom>
          <a:ln w="38100">
            <a:solidFill>
              <a:srgbClr val="F1610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8832215" y="2790973"/>
            <a:ext cx="495300" cy="495300"/>
            <a:chOff x="8896350" y="2790973"/>
            <a:chExt cx="495300" cy="495300"/>
          </a:xfrm>
        </p:grpSpPr>
        <p:sp>
          <p:nvSpPr>
            <p:cNvPr id="8" name="object 8"/>
            <p:cNvSpPr/>
            <p:nvPr/>
          </p:nvSpPr>
          <p:spPr>
            <a:xfrm>
              <a:off x="8991600" y="3064023"/>
              <a:ext cx="304800" cy="127000"/>
            </a:xfrm>
            <a:custGeom>
              <a:avLst/>
              <a:gdLst/>
              <a:ahLst/>
              <a:cxnLst/>
              <a:rect l="l" t="t" r="r" b="b"/>
              <a:pathLst>
                <a:path w="304800" h="127000">
                  <a:moveTo>
                    <a:pt x="304800" y="127000"/>
                  </a:moveTo>
                  <a:lnTo>
                    <a:pt x="190500" y="50800"/>
                  </a:lnTo>
                  <a:lnTo>
                    <a:pt x="127000" y="10160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F1610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15400" y="28100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441959"/>
                  </a:moveTo>
                  <a:lnTo>
                    <a:pt x="0" y="15239"/>
                  </a:lnTo>
                  <a:lnTo>
                    <a:pt x="0" y="6819"/>
                  </a:lnTo>
                  <a:lnTo>
                    <a:pt x="6819" y="0"/>
                  </a:lnTo>
                  <a:lnTo>
                    <a:pt x="15240" y="0"/>
                  </a:lnTo>
                  <a:lnTo>
                    <a:pt x="441959" y="0"/>
                  </a:lnTo>
                  <a:lnTo>
                    <a:pt x="450380" y="0"/>
                  </a:lnTo>
                  <a:lnTo>
                    <a:pt x="457200" y="6819"/>
                  </a:lnTo>
                  <a:lnTo>
                    <a:pt x="457200" y="15239"/>
                  </a:lnTo>
                  <a:lnTo>
                    <a:pt x="457200" y="441959"/>
                  </a:lnTo>
                  <a:lnTo>
                    <a:pt x="457200" y="450380"/>
                  </a:lnTo>
                  <a:lnTo>
                    <a:pt x="450380" y="457199"/>
                  </a:lnTo>
                  <a:lnTo>
                    <a:pt x="441959" y="457199"/>
                  </a:lnTo>
                  <a:lnTo>
                    <a:pt x="15240" y="457199"/>
                  </a:lnTo>
                  <a:lnTo>
                    <a:pt x="6819" y="457199"/>
                  </a:lnTo>
                  <a:lnTo>
                    <a:pt x="0" y="450380"/>
                  </a:lnTo>
                  <a:lnTo>
                    <a:pt x="0" y="441959"/>
                  </a:lnTo>
                  <a:close/>
                </a:path>
              </a:pathLst>
            </a:custGeom>
            <a:ln w="38100">
              <a:solidFill>
                <a:srgbClr val="F1610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7898765" y="3591077"/>
            <a:ext cx="2362200" cy="28575"/>
          </a:xfrm>
          <a:custGeom>
            <a:avLst/>
            <a:gdLst/>
            <a:ahLst/>
            <a:cxnLst/>
            <a:rect l="l" t="t" r="r" b="b"/>
            <a:pathLst>
              <a:path w="2362200" h="28575">
                <a:moveTo>
                  <a:pt x="2362200" y="0"/>
                </a:moveTo>
                <a:lnTo>
                  <a:pt x="0" y="0"/>
                </a:lnTo>
                <a:lnTo>
                  <a:pt x="0" y="28575"/>
                </a:lnTo>
                <a:lnTo>
                  <a:pt x="2362200" y="28575"/>
                </a:lnTo>
                <a:lnTo>
                  <a:pt x="2362200" y="0"/>
                </a:lnTo>
                <a:close/>
              </a:path>
            </a:pathLst>
          </a:custGeom>
          <a:solidFill>
            <a:srgbClr val="F262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6298565" y="3785194"/>
            <a:ext cx="6350635" cy="1595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SemiBold"/>
                <a:cs typeface="Aileron SemiBold"/>
              </a:rPr>
              <a:t>Thank</a:t>
            </a:r>
            <a:r>
              <a:rPr sz="10300" b="1" spc="-18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SemiBold"/>
                <a:cs typeface="Aileron SemiBold"/>
              </a:rPr>
              <a:t> </a:t>
            </a:r>
            <a:r>
              <a:rPr sz="10300" b="1" spc="-8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SemiBold"/>
                <a:cs typeface="Aileron SemiBold"/>
              </a:rPr>
              <a:t>Y</a:t>
            </a:r>
            <a:r>
              <a:rPr sz="10300" b="1" spc="-4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ileron SemiBold"/>
                <a:cs typeface="Aileron SemiBold"/>
              </a:rPr>
              <a:t>ou</a:t>
            </a:r>
            <a:endParaRPr sz="103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ileron SemiBold"/>
              <a:cs typeface="Aileron SemiBol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33227" y="5720943"/>
            <a:ext cx="3017520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dirty="0">
                <a:solidFill>
                  <a:srgbClr val="292929"/>
                </a:solidFill>
                <a:latin typeface="Aileron Light"/>
                <a:cs typeface="Aileron Light"/>
              </a:rPr>
              <a:t>Questions </a:t>
            </a:r>
            <a:r>
              <a:rPr sz="2750" spc="-10" dirty="0">
                <a:solidFill>
                  <a:srgbClr val="292929"/>
                </a:solidFill>
                <a:latin typeface="Aileron Light"/>
                <a:cs typeface="Aileron Light"/>
              </a:rPr>
              <a:t>welcome</a:t>
            </a:r>
            <a:endParaRPr sz="2750">
              <a:latin typeface="Aileron Light"/>
              <a:cs typeface="Aileron Ligh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517765" y="6696522"/>
            <a:ext cx="3048000" cy="0"/>
          </a:xfrm>
          <a:custGeom>
            <a:avLst/>
            <a:gdLst/>
            <a:ahLst/>
            <a:cxnLst/>
            <a:rect l="l" t="t" r="r" b="b"/>
            <a:pathLst>
              <a:path w="3048000">
                <a:moveTo>
                  <a:pt x="0" y="0"/>
                </a:moveTo>
                <a:lnTo>
                  <a:pt x="3048000" y="0"/>
                </a:lnTo>
              </a:path>
            </a:pathLst>
          </a:custGeom>
          <a:ln w="9525">
            <a:solidFill>
              <a:srgbClr val="F1610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943600" y="7239000"/>
            <a:ext cx="614616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950" spc="-35" dirty="0">
                <a:solidFill>
                  <a:srgbClr val="292929"/>
                </a:solidFill>
                <a:latin typeface="Aileron Light"/>
                <a:cs typeface="Aileron Light"/>
              </a:rPr>
              <a:t>Gabriel Manthi </a:t>
            </a:r>
            <a:r>
              <a:rPr sz="1950" spc="-35" dirty="0">
                <a:solidFill>
                  <a:srgbClr val="292929"/>
                </a:solidFill>
                <a:latin typeface="Aileron Light"/>
                <a:cs typeface="Aileron Light"/>
              </a:rPr>
              <a:t> </a:t>
            </a:r>
            <a:r>
              <a:rPr sz="1950" dirty="0">
                <a:solidFill>
                  <a:srgbClr val="292929"/>
                </a:solidFill>
                <a:latin typeface="Aileron Light"/>
                <a:cs typeface="Aileron Light"/>
              </a:rPr>
              <a:t>·</a:t>
            </a:r>
            <a:r>
              <a:rPr sz="1950" spc="-35" dirty="0">
                <a:solidFill>
                  <a:srgbClr val="292929"/>
                </a:solidFill>
                <a:latin typeface="Aileron Light"/>
                <a:cs typeface="Aileron Light"/>
              </a:rPr>
              <a:t>  </a:t>
            </a:r>
            <a:r>
              <a:rPr sz="1950" dirty="0">
                <a:solidFill>
                  <a:srgbClr val="292929"/>
                </a:solidFill>
                <a:latin typeface="Aileron Light"/>
                <a:cs typeface="Aileron Light"/>
              </a:rPr>
              <a:t>July</a:t>
            </a:r>
            <a:r>
              <a:rPr sz="1950" spc="-35" dirty="0">
                <a:solidFill>
                  <a:srgbClr val="292929"/>
                </a:solidFill>
                <a:latin typeface="Aileron Light"/>
                <a:cs typeface="Aileron Light"/>
              </a:rPr>
              <a:t> </a:t>
            </a:r>
            <a:r>
              <a:rPr sz="1950" dirty="0">
                <a:solidFill>
                  <a:srgbClr val="292929"/>
                </a:solidFill>
                <a:latin typeface="Aileron Light"/>
                <a:cs typeface="Aileron Light"/>
              </a:rPr>
              <a:t>15,</a:t>
            </a:r>
            <a:r>
              <a:rPr sz="1950" spc="-35" dirty="0">
                <a:solidFill>
                  <a:srgbClr val="292929"/>
                </a:solidFill>
                <a:latin typeface="Aileron Light"/>
                <a:cs typeface="Aileron Light"/>
              </a:rPr>
              <a:t> </a:t>
            </a:r>
            <a:r>
              <a:rPr sz="1950" spc="-20" dirty="0">
                <a:solidFill>
                  <a:srgbClr val="292929"/>
                </a:solidFill>
                <a:latin typeface="Aileron Light"/>
                <a:cs typeface="Aileron Light"/>
              </a:rPr>
              <a:t>2026</a:t>
            </a:r>
            <a:endParaRPr sz="1950" dirty="0">
              <a:latin typeface="Aileron Light"/>
              <a:cs typeface="Aileron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229176" y="9627813"/>
            <a:ext cx="30988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262626"/>
                </a:solidFill>
                <a:latin typeface="Aileron Light"/>
                <a:cs typeface="Aileron Light"/>
              </a:rPr>
              <a:t>10.</a:t>
            </a:r>
            <a:endParaRPr sz="1700">
              <a:latin typeface="Aileron Light"/>
              <a:cs typeface="Aileron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426</Words>
  <Application>Microsoft Office PowerPoint</Application>
  <PresentationFormat>Custom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Aileron</vt:lpstr>
      <vt:lpstr>Aileron Black</vt:lpstr>
      <vt:lpstr>Aileron Bold</vt:lpstr>
      <vt:lpstr>Aileron Light</vt:lpstr>
      <vt:lpstr>Aileron SemiBold</vt:lpstr>
      <vt:lpstr>Arial</vt:lpstr>
      <vt:lpstr>Calibri</vt:lpstr>
      <vt:lpstr>Office Theme</vt:lpstr>
      <vt:lpstr>SQL Analysis: IMDB Movies</vt:lpstr>
      <vt:lpstr>What We'll Cover</vt:lpstr>
      <vt:lpstr>PowerPoint Presentation</vt:lpstr>
      <vt:lpstr>Initial Exploration Findings</vt:lpstr>
      <vt:lpstr>Business Question</vt:lpstr>
      <vt:lpstr>PowerPoint Presentation</vt:lpstr>
      <vt:lpstr>Key Findings</vt:lpstr>
      <vt:lpstr>Business Insight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Analysis: IMDB Movies</dc:title>
  <dc:creator>user</dc:creator>
  <cp:lastModifiedBy>user</cp:lastModifiedBy>
  <cp:revision>27</cp:revision>
  <dcterms:created xsi:type="dcterms:W3CDTF">2026-07-15T08:10:21Z</dcterms:created>
  <dcterms:modified xsi:type="dcterms:W3CDTF">2026-07-15T09:32:41Z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v10.0.19912.1</vt:lpwstr>
  </property>
  <property fmtid="{D5CDD505-2E9C-101B-9397-08002B2CF9AE}" pid="3" name="Created">
    <vt:filetime>2026-07-15T00:00:00Z</vt:filetime>
  </property>
  <property fmtid="{D5CDD505-2E9C-101B-9397-08002B2CF9AE}" pid="4" name="CreationClient">
    <vt:lpwstr>outline-to-presentation-weave</vt:lpwstr>
  </property>
  <property fmtid="{D5CDD505-2E9C-101B-9397-08002B2CF9AE}" pid="5" name="Creator">
    <vt:lpwstr>Adobe Express</vt:lpwstr>
  </property>
  <property fmtid="{D5CDD505-2E9C-101B-9397-08002B2CF9AE}" pid="6" name="LastSaved">
    <vt:filetime>2026-07-15T00:00:00Z</vt:filetime>
  </property>
  <property fmtid="{D5CDD505-2E9C-101B-9397-08002B2CF9AE}" pid="7" name="Producer">
    <vt:lpwstr>Adobe Express</vt:lpwstr>
  </property>
</Properties>
</file>